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257" r:id="rId3"/>
    <p:sldId id="258" r:id="rId4"/>
    <p:sldId id="260" r:id="rId5"/>
    <p:sldId id="263" r:id="rId6"/>
    <p:sldId id="261" r:id="rId7"/>
    <p:sldId id="264" r:id="rId8"/>
    <p:sldId id="266" r:id="rId9"/>
    <p:sldId id="265" r:id="rId10"/>
    <p:sldId id="262" r:id="rId11"/>
    <p:sldId id="282" r:id="rId12"/>
    <p:sldId id="286" r:id="rId13"/>
    <p:sldId id="279" r:id="rId14"/>
    <p:sldId id="284" r:id="rId15"/>
    <p:sldId id="280" r:id="rId16"/>
    <p:sldId id="283" r:id="rId17"/>
    <p:sldId id="281" r:id="rId18"/>
    <p:sldId id="285" r:id="rId19"/>
    <p:sldId id="269" r:id="rId20"/>
    <p:sldId id="268" r:id="rId21"/>
    <p:sldId id="292" r:id="rId22"/>
    <p:sldId id="267" r:id="rId23"/>
    <p:sldId id="271" r:id="rId24"/>
    <p:sldId id="273" r:id="rId25"/>
    <p:sldId id="276" r:id="rId26"/>
    <p:sldId id="277" r:id="rId27"/>
    <p:sldId id="278" r:id="rId28"/>
    <p:sldId id="294" r:id="rId29"/>
    <p:sldId id="295" r:id="rId30"/>
    <p:sldId id="296" r:id="rId31"/>
    <p:sldId id="297" r:id="rId32"/>
    <p:sldId id="298" r:id="rId33"/>
    <p:sldId id="288" r:id="rId34"/>
    <p:sldId id="293" r:id="rId35"/>
    <p:sldId id="290" r:id="rId36"/>
  </p:sldIdLst>
  <p:sldSz cx="18288000" cy="10287000"/>
  <p:notesSz cx="6858000" cy="9144000"/>
  <p:embeddedFontLst>
    <p:embeddedFont>
      <p:font typeface="Inter Bold" panose="02000503000000020004"/>
      <p:regular r:id="rId38"/>
      <p:bold r:id="rId39"/>
    </p:embeddedFont>
    <p:embeddedFont>
      <p:font typeface="Inter Heavy" panose="02000503000000020004"/>
      <p:regular r:id="rId40"/>
      <p:bold r:id="rId41"/>
    </p:embeddedFont>
    <p:embeddedFont>
      <p:font typeface="League Spartan" pitchFamily="2" charset="0"/>
      <p:regular r:id="rId42"/>
      <p:bold r:id="rId43"/>
    </p:embeddedFont>
    <p:embeddedFont>
      <p:font typeface="Poppins Semi-Bold" pitchFamily="2" charset="0"/>
      <p:bold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300"/>
    <a:srgbClr val="17AC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28" autoAdjust="0"/>
    <p:restoredTop sz="93630" autoAdjust="0"/>
  </p:normalViewPr>
  <p:slideViewPr>
    <p:cSldViewPr>
      <p:cViewPr varScale="1">
        <p:scale>
          <a:sx n="79" d="100"/>
          <a:sy n="79" d="100"/>
        </p:scale>
        <p:origin x="464"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EG"/>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C0BD4338-D01A-B14B-80F8-59D39CE25656}" type="datetimeFigureOut">
              <a:rPr lang="ar-EG" smtClean="0"/>
              <a:t>28‏/1‏/1448</a:t>
            </a:fld>
            <a:endParaRPr lang="ar-EG"/>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EG"/>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EG"/>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EG"/>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2586D7BF-F58F-244A-957C-49683FB2AA61}" type="slidenum">
              <a:rPr lang="ar-EG" smtClean="0"/>
              <a:t>‹#›</a:t>
            </a:fld>
            <a:endParaRPr lang="ar-EG"/>
          </a:p>
        </p:txBody>
      </p:sp>
    </p:spTree>
    <p:extLst>
      <p:ext uri="{BB962C8B-B14F-4D97-AF65-F5344CB8AC3E}">
        <p14:creationId xmlns:p14="http://schemas.microsoft.com/office/powerpoint/2010/main" val="129715038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0" algn="l" defTabSz="914400" rtl="0" eaLnBrk="1" latinLnBrk="0" hangingPunct="1"/>
            <a:endParaRPr lang="ar-EG"/>
          </a:p>
        </p:txBody>
      </p:sp>
      <p:sp>
        <p:nvSpPr>
          <p:cNvPr id="4" name="عنصر نائب لرقم الشريحة 3"/>
          <p:cNvSpPr>
            <a:spLocks noGrp="1"/>
          </p:cNvSpPr>
          <p:nvPr>
            <p:ph type="sldNum" sz="quarter" idx="5"/>
          </p:nvPr>
        </p:nvSpPr>
        <p:spPr/>
        <p:txBody>
          <a:bodyPr/>
          <a:lstStyle/>
          <a:p>
            <a:fld id="{2586D7BF-F58F-244A-957C-49683FB2AA61}" type="slidenum">
              <a:rPr lang="ar-EG" smtClean="0"/>
              <a:t>1</a:t>
            </a:fld>
            <a:endParaRPr lang="ar-EG"/>
          </a:p>
        </p:txBody>
      </p:sp>
    </p:spTree>
    <p:extLst>
      <p:ext uri="{BB962C8B-B14F-4D97-AF65-F5344CB8AC3E}">
        <p14:creationId xmlns:p14="http://schemas.microsoft.com/office/powerpoint/2010/main" val="1201556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p:cNvGrpSpPr/>
        <p:nvPr/>
      </p:nvGrpSpPr>
      <p:grpSpPr>
        <a:xfrm>
          <a:off x="0" y="0"/>
          <a:ext cx="0" cy="0"/>
          <a:chOff x="0" y="0"/>
          <a:chExt cx="0" cy="0"/>
        </a:xfrm>
      </p:grpSpPr>
      <p:sp>
        <p:nvSpPr>
          <p:cNvPr id="2" name="Freeform 2"/>
          <p:cNvSpPr/>
          <p:nvPr/>
        </p:nvSpPr>
        <p:spPr>
          <a:xfrm>
            <a:off x="418266" y="277459"/>
            <a:ext cx="2798281" cy="2786008"/>
          </a:xfrm>
          <a:custGeom>
            <a:avLst/>
            <a:gdLst/>
            <a:ahLst/>
            <a:cxnLst/>
            <a:rect l="l" t="t" r="r" b="b"/>
            <a:pathLst>
              <a:path w="2798281" h="2786008">
                <a:moveTo>
                  <a:pt x="0" y="0"/>
                </a:moveTo>
                <a:lnTo>
                  <a:pt x="2798281" y="0"/>
                </a:lnTo>
                <a:lnTo>
                  <a:pt x="2798281" y="2786007"/>
                </a:lnTo>
                <a:lnTo>
                  <a:pt x="0" y="2786007"/>
                </a:lnTo>
                <a:lnTo>
                  <a:pt x="0" y="0"/>
                </a:lnTo>
                <a:close/>
              </a:path>
            </a:pathLst>
          </a:custGeom>
          <a:blipFill>
            <a:blip r:embed="rId3"/>
            <a:stretch>
              <a:fillRect/>
            </a:stretch>
          </a:blipFill>
        </p:spPr>
        <p:txBody>
          <a:bodyPr/>
          <a:lstStyle/>
          <a:p>
            <a:endParaRPr lang="en-US"/>
          </a:p>
        </p:txBody>
      </p:sp>
      <p:sp>
        <p:nvSpPr>
          <p:cNvPr id="3" name="Freeform 3"/>
          <p:cNvSpPr/>
          <p:nvPr/>
        </p:nvSpPr>
        <p:spPr>
          <a:xfrm>
            <a:off x="12619190" y="369748"/>
            <a:ext cx="5039183" cy="2342275"/>
          </a:xfrm>
          <a:custGeom>
            <a:avLst/>
            <a:gdLst/>
            <a:ahLst/>
            <a:cxnLst/>
            <a:rect l="l" t="t" r="r" b="b"/>
            <a:pathLst>
              <a:path w="5039183" h="2342275">
                <a:moveTo>
                  <a:pt x="0" y="0"/>
                </a:moveTo>
                <a:lnTo>
                  <a:pt x="5039184" y="0"/>
                </a:lnTo>
                <a:lnTo>
                  <a:pt x="5039184" y="2342274"/>
                </a:lnTo>
                <a:lnTo>
                  <a:pt x="0" y="2342274"/>
                </a:lnTo>
                <a:lnTo>
                  <a:pt x="0" y="0"/>
                </a:lnTo>
                <a:close/>
              </a:path>
            </a:pathLst>
          </a:custGeom>
          <a:blipFill>
            <a:blip r:embed="rId4"/>
            <a:stretch>
              <a:fillRect b="-10082"/>
            </a:stretch>
          </a:blipFill>
        </p:spPr>
        <p:txBody>
          <a:bodyPr/>
          <a:lstStyle/>
          <a:p>
            <a:endParaRPr lang="en-US"/>
          </a:p>
        </p:txBody>
      </p:sp>
      <p:sp>
        <p:nvSpPr>
          <p:cNvPr id="4" name="TextBox 4"/>
          <p:cNvSpPr txBox="1"/>
          <p:nvPr/>
        </p:nvSpPr>
        <p:spPr>
          <a:xfrm>
            <a:off x="3883209" y="4040387"/>
            <a:ext cx="11106236" cy="1434468"/>
          </a:xfrm>
          <a:prstGeom prst="rect">
            <a:avLst/>
          </a:prstGeom>
        </p:spPr>
        <p:txBody>
          <a:bodyPr lIns="0" tIns="0" rIns="0" bIns="0" rtlCol="0" anchor="t">
            <a:spAutoFit/>
          </a:bodyPr>
          <a:lstStyle/>
          <a:p>
            <a:pPr algn="l">
              <a:lnSpc>
                <a:spcPts val="11429"/>
              </a:lnSpc>
            </a:pPr>
            <a:r>
              <a:rPr lang="en-US" sz="8999">
                <a:solidFill>
                  <a:srgbClr val="020202"/>
                </a:solidFill>
                <a:latin typeface="League Spartan"/>
                <a:ea typeface="League Spartan"/>
                <a:cs typeface="League Spartan"/>
                <a:sym typeface="League Spartan"/>
              </a:rPr>
              <a:t>SALES ANALYSIS</a:t>
            </a:r>
          </a:p>
        </p:txBody>
      </p:sp>
      <p:sp>
        <p:nvSpPr>
          <p:cNvPr id="5" name="TextBox 5"/>
          <p:cNvSpPr txBox="1"/>
          <p:nvPr/>
        </p:nvSpPr>
        <p:spPr>
          <a:xfrm>
            <a:off x="5551684" y="5896572"/>
            <a:ext cx="7467003" cy="734059"/>
          </a:xfrm>
          <a:prstGeom prst="rect">
            <a:avLst/>
          </a:prstGeom>
        </p:spPr>
        <p:txBody>
          <a:bodyPr lIns="0" tIns="0" rIns="0" bIns="0" rtlCol="0" anchor="t">
            <a:spAutoFit/>
          </a:bodyPr>
          <a:lstStyle/>
          <a:p>
            <a:pPr algn="l">
              <a:lnSpc>
                <a:spcPts val="5740"/>
              </a:lnSpc>
            </a:pPr>
            <a:r>
              <a:rPr lang="en-US" sz="4100" b="1">
                <a:solidFill>
                  <a:srgbClr val="020202"/>
                </a:solidFill>
                <a:latin typeface="Poppins Semi-Bold"/>
                <a:ea typeface="Poppins Semi-Bold"/>
                <a:cs typeface="Poppins Semi-Bold"/>
                <a:sym typeface="Poppins Semi-Bold"/>
              </a:rPr>
              <a:t> Data Analyst Specialist</a:t>
            </a:r>
          </a:p>
        </p:txBody>
      </p:sp>
      <p:sp>
        <p:nvSpPr>
          <p:cNvPr id="6" name="TextBox 6"/>
          <p:cNvSpPr txBox="1"/>
          <p:nvPr/>
        </p:nvSpPr>
        <p:spPr>
          <a:xfrm>
            <a:off x="6770569" y="6735620"/>
            <a:ext cx="7467003" cy="734059"/>
          </a:xfrm>
          <a:prstGeom prst="rect">
            <a:avLst/>
          </a:prstGeom>
        </p:spPr>
        <p:txBody>
          <a:bodyPr lIns="0" tIns="0" rIns="0" bIns="0" rtlCol="0" anchor="t">
            <a:spAutoFit/>
          </a:bodyPr>
          <a:lstStyle/>
          <a:p>
            <a:pPr algn="l">
              <a:lnSpc>
                <a:spcPts val="5740"/>
              </a:lnSpc>
            </a:pPr>
            <a:r>
              <a:rPr lang="en-US" sz="4100" b="1">
                <a:solidFill>
                  <a:srgbClr val="020202"/>
                </a:solidFill>
                <a:latin typeface="Poppins Semi-Bold"/>
                <a:ea typeface="Poppins Semi-Bold"/>
                <a:cs typeface="Poppins Semi-Bold"/>
                <a:sym typeface="Poppins Semi-Bold"/>
              </a:rPr>
              <a:t>ONL4_DAT1_S7</a:t>
            </a:r>
          </a:p>
        </p:txBody>
      </p:sp>
      <p:grpSp>
        <p:nvGrpSpPr>
          <p:cNvPr id="7" name="Group 7"/>
          <p:cNvGrpSpPr/>
          <p:nvPr/>
        </p:nvGrpSpPr>
        <p:grpSpPr>
          <a:xfrm>
            <a:off x="0" y="0"/>
            <a:ext cx="18288000" cy="10508348"/>
            <a:chOff x="0" y="0"/>
            <a:chExt cx="2901493" cy="3324623"/>
          </a:xfrm>
        </p:grpSpPr>
        <p:sp>
          <p:nvSpPr>
            <p:cNvPr id="8" name="Freeform 8"/>
            <p:cNvSpPr/>
            <p:nvPr/>
          </p:nvSpPr>
          <p:spPr>
            <a:xfrm>
              <a:off x="0" y="0"/>
              <a:ext cx="2901493" cy="3324623"/>
            </a:xfrm>
            <a:custGeom>
              <a:avLst/>
              <a:gdLst/>
              <a:ahLst/>
              <a:cxnLst/>
              <a:rect l="l" t="t" r="r" b="b"/>
              <a:pathLst>
                <a:path w="2901493" h="3324623">
                  <a:moveTo>
                    <a:pt x="0" y="0"/>
                  </a:moveTo>
                  <a:lnTo>
                    <a:pt x="2901493" y="0"/>
                  </a:lnTo>
                  <a:lnTo>
                    <a:pt x="2901493" y="3324623"/>
                  </a:lnTo>
                  <a:lnTo>
                    <a:pt x="0" y="3324623"/>
                  </a:lnTo>
                  <a:close/>
                </a:path>
              </a:pathLst>
            </a:custGeom>
            <a:blipFill>
              <a:blip r:embed="rId5">
                <a:alphaModFix amt="34000"/>
              </a:blip>
              <a:stretch>
                <a:fillRect l="-73838" t="-539" b="-539"/>
              </a:stretch>
            </a:blipFill>
            <a:ln w="66675" cap="sq">
              <a:solidFill>
                <a:srgbClr val="FFFFFF">
                  <a:alpha val="33725"/>
                </a:srgbClr>
              </a:solidFill>
              <a:prstDash val="solid"/>
              <a:miter/>
            </a:ln>
          </p:spPr>
          <p:txBody>
            <a:bodyPr/>
            <a:lstStyle/>
            <a:p>
              <a:pPr marL="0" algn="r" defTabSz="914400" rtl="1" eaLnBrk="1" latinLnBrk="0" hangingPunct="1"/>
              <a:endParaRPr lang="en-US" dirty="0"/>
            </a:p>
          </p:txBody>
        </p:sp>
      </p:grpSp>
      <p:sp>
        <p:nvSpPr>
          <p:cNvPr id="12" name="مربع نص 11">
            <a:extLst>
              <a:ext uri="{FF2B5EF4-FFF2-40B4-BE49-F238E27FC236}">
                <a16:creationId xmlns:a16="http://schemas.microsoft.com/office/drawing/2014/main" id="{28FCAB71-AD6A-A3C5-0DCD-82EFAB3EEBAF}"/>
              </a:ext>
            </a:extLst>
          </p:cNvPr>
          <p:cNvSpPr txBox="1"/>
          <p:nvPr/>
        </p:nvSpPr>
        <p:spPr>
          <a:xfrm>
            <a:off x="17345409" y="9105900"/>
            <a:ext cx="625928"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p:cNvGrpSpPr/>
        <p:nvPr/>
      </p:nvGrpSpPr>
      <p:grpSpPr>
        <a:xfrm>
          <a:off x="0" y="0"/>
          <a:ext cx="0" cy="0"/>
          <a:chOff x="0" y="0"/>
          <a:chExt cx="0" cy="0"/>
        </a:xfrm>
      </p:grpSpPr>
      <p:grpSp>
        <p:nvGrpSpPr>
          <p:cNvPr id="2" name="Group 2"/>
          <p:cNvGrpSpPr/>
          <p:nvPr/>
        </p:nvGrpSpPr>
        <p:grpSpPr>
          <a:xfrm>
            <a:off x="152400" y="21771"/>
            <a:ext cx="18135600" cy="10287000"/>
            <a:chOff x="23024" y="2670"/>
            <a:chExt cx="2833290" cy="1593725"/>
          </a:xfrm>
        </p:grpSpPr>
        <p:sp>
          <p:nvSpPr>
            <p:cNvPr id="3" name="Freeform 3"/>
            <p:cNvSpPr/>
            <p:nvPr/>
          </p:nvSpPr>
          <p:spPr>
            <a:xfrm>
              <a:off x="23024" y="267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alphaModFix amt="34000"/>
              </a:blip>
              <a:stretch>
                <a:fillRect l="-71598" t="-92426" r="-2239" b="-13475"/>
              </a:stretch>
            </a:blipFill>
          </p:spPr>
          <p:txBody>
            <a:bodyPr/>
            <a:lstStyle/>
            <a:p>
              <a:endParaRPr lang="en-US"/>
            </a:p>
          </p:txBody>
        </p:sp>
      </p:grpSp>
      <p:sp>
        <p:nvSpPr>
          <p:cNvPr id="4" name="TextBox 4"/>
          <p:cNvSpPr txBox="1"/>
          <p:nvPr/>
        </p:nvSpPr>
        <p:spPr>
          <a:xfrm>
            <a:off x="6400800" y="682589"/>
            <a:ext cx="5040511" cy="953135"/>
          </a:xfrm>
          <a:prstGeom prst="rect">
            <a:avLst/>
          </a:prstGeom>
        </p:spPr>
        <p:txBody>
          <a:bodyPr lIns="0" tIns="0" rIns="0" bIns="0" rtlCol="0" anchor="t">
            <a:spAutoFit/>
          </a:bodyPr>
          <a:lstStyle/>
          <a:p>
            <a:pPr algn="r">
              <a:lnSpc>
                <a:spcPts val="7839"/>
              </a:lnSpc>
            </a:pPr>
            <a:r>
              <a:rPr lang="en-US" sz="5599" b="1" dirty="0">
                <a:solidFill>
                  <a:srgbClr val="000747"/>
                </a:solidFill>
                <a:latin typeface="Inter Heavy"/>
                <a:ea typeface="Inter Heavy"/>
                <a:cs typeface="Inter Heavy"/>
                <a:sym typeface="Inter Heavy"/>
              </a:rPr>
              <a:t>Presented by:</a:t>
            </a:r>
          </a:p>
        </p:txBody>
      </p:sp>
      <p:sp>
        <p:nvSpPr>
          <p:cNvPr id="5" name="TextBox 5"/>
          <p:cNvSpPr txBox="1"/>
          <p:nvPr/>
        </p:nvSpPr>
        <p:spPr>
          <a:xfrm>
            <a:off x="3839034" y="3244216"/>
            <a:ext cx="3780965" cy="1232582"/>
          </a:xfrm>
          <a:prstGeom prst="rect">
            <a:avLst/>
          </a:prstGeom>
        </p:spPr>
        <p:txBody>
          <a:bodyPr wrap="square" lIns="0" tIns="0" rIns="0" bIns="0" rtlCol="0" anchor="t">
            <a:spAutoFit/>
          </a:bodyPr>
          <a:lstStyle/>
          <a:p>
            <a:pPr marL="388624" lvl="1" algn="l">
              <a:lnSpc>
                <a:spcPts val="5040"/>
              </a:lnSpc>
            </a:pPr>
            <a:endParaRPr lang="en-US" sz="3600" b="1" dirty="0">
              <a:solidFill>
                <a:srgbClr val="1B3A62"/>
              </a:solidFill>
              <a:latin typeface="Inter Bold"/>
              <a:ea typeface="Inter Bold"/>
              <a:cs typeface="Inter Bold"/>
              <a:sym typeface="Inter Bold"/>
            </a:endParaRPr>
          </a:p>
          <a:p>
            <a:pPr marL="388624" lvl="1" algn="l">
              <a:lnSpc>
                <a:spcPts val="5040"/>
              </a:lnSpc>
            </a:pPr>
            <a:endParaRPr lang="en-US" sz="3600" b="1" dirty="0">
              <a:solidFill>
                <a:srgbClr val="1B3A62"/>
              </a:solidFill>
              <a:latin typeface="Inter Bold"/>
              <a:ea typeface="Inter Bold"/>
              <a:cs typeface="Inter Bold"/>
              <a:sym typeface="Inter Bold"/>
            </a:endParaRPr>
          </a:p>
        </p:txBody>
      </p:sp>
      <p:sp>
        <p:nvSpPr>
          <p:cNvPr id="7" name="TextBox 7"/>
          <p:cNvSpPr txBox="1"/>
          <p:nvPr/>
        </p:nvSpPr>
        <p:spPr>
          <a:xfrm>
            <a:off x="6400800" y="6713585"/>
            <a:ext cx="5434181" cy="953135"/>
          </a:xfrm>
          <a:prstGeom prst="rect">
            <a:avLst/>
          </a:prstGeom>
        </p:spPr>
        <p:txBody>
          <a:bodyPr wrap="square" lIns="0" tIns="0" rIns="0" bIns="0" rtlCol="0" anchor="t">
            <a:spAutoFit/>
          </a:bodyPr>
          <a:lstStyle/>
          <a:p>
            <a:pPr algn="r">
              <a:lnSpc>
                <a:spcPts val="7839"/>
              </a:lnSpc>
            </a:pPr>
            <a:r>
              <a:rPr lang="en-US" sz="5599" b="1" dirty="0">
                <a:solidFill>
                  <a:srgbClr val="000747"/>
                </a:solidFill>
                <a:latin typeface="Inter Heavy"/>
                <a:ea typeface="Inter Heavy"/>
                <a:cs typeface="Inter Heavy"/>
                <a:sym typeface="Inter Heavy"/>
              </a:rPr>
              <a:t>Supervised by:</a:t>
            </a:r>
          </a:p>
        </p:txBody>
      </p:sp>
      <p:sp useBgFill="1">
        <p:nvSpPr>
          <p:cNvPr id="9" name="Rectangle: Rounded Corners 8">
            <a:extLst>
              <a:ext uri="{FF2B5EF4-FFF2-40B4-BE49-F238E27FC236}">
                <a16:creationId xmlns:a16="http://schemas.microsoft.com/office/drawing/2014/main" id="{C11F8BCC-D61A-7E93-651D-3A4F56F03672}"/>
              </a:ext>
            </a:extLst>
          </p:cNvPr>
          <p:cNvSpPr/>
          <p:nvPr/>
        </p:nvSpPr>
        <p:spPr>
          <a:xfrm>
            <a:off x="3543512" y="2107571"/>
            <a:ext cx="5040511"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nSpc>
                <a:spcPts val="5040"/>
              </a:lnSpc>
            </a:pPr>
            <a:r>
              <a:rPr lang="en-US" sz="3600" b="1" dirty="0">
                <a:solidFill>
                  <a:srgbClr val="1B3A62"/>
                </a:solidFill>
                <a:latin typeface="Inter Bold"/>
                <a:ea typeface="Inter Bold"/>
                <a:cs typeface="Inter Bold"/>
                <a:sym typeface="Inter Bold"/>
              </a:rPr>
              <a:t>Basmala Mohamed</a:t>
            </a:r>
          </a:p>
        </p:txBody>
      </p:sp>
      <p:sp useBgFill="1">
        <p:nvSpPr>
          <p:cNvPr id="11" name="Rectangle: Rounded Corners 10">
            <a:extLst>
              <a:ext uri="{FF2B5EF4-FFF2-40B4-BE49-F238E27FC236}">
                <a16:creationId xmlns:a16="http://schemas.microsoft.com/office/drawing/2014/main" id="{9971D1F2-5CB8-60A4-5F99-6790A50BB0AD}"/>
              </a:ext>
            </a:extLst>
          </p:cNvPr>
          <p:cNvSpPr/>
          <p:nvPr/>
        </p:nvSpPr>
        <p:spPr>
          <a:xfrm>
            <a:off x="10705888" y="2145602"/>
            <a:ext cx="40386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nSpc>
                <a:spcPts val="5040"/>
              </a:lnSpc>
            </a:pPr>
            <a:r>
              <a:rPr lang="en-US" sz="3600" b="1" dirty="0">
                <a:solidFill>
                  <a:srgbClr val="1B3A62"/>
                </a:solidFill>
                <a:latin typeface="Inter Bold"/>
                <a:ea typeface="Inter Bold"/>
                <a:cs typeface="Inter Bold"/>
                <a:sym typeface="Inter Bold"/>
              </a:rPr>
              <a:t>Mariam Belal</a:t>
            </a:r>
          </a:p>
        </p:txBody>
      </p:sp>
      <p:sp useBgFill="1">
        <p:nvSpPr>
          <p:cNvPr id="13" name="Rectangle: Rounded Corners 12">
            <a:extLst>
              <a:ext uri="{FF2B5EF4-FFF2-40B4-BE49-F238E27FC236}">
                <a16:creationId xmlns:a16="http://schemas.microsoft.com/office/drawing/2014/main" id="{D60B79A6-54CE-B74E-2B06-EC37A6997850}"/>
              </a:ext>
            </a:extLst>
          </p:cNvPr>
          <p:cNvSpPr/>
          <p:nvPr/>
        </p:nvSpPr>
        <p:spPr>
          <a:xfrm>
            <a:off x="3543512" y="3714126"/>
            <a:ext cx="5040511"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gn="ctr">
              <a:lnSpc>
                <a:spcPts val="5040"/>
              </a:lnSpc>
            </a:pPr>
            <a:r>
              <a:rPr lang="en-US" sz="3600" b="1" dirty="0">
                <a:solidFill>
                  <a:srgbClr val="1B3A62"/>
                </a:solidFill>
                <a:latin typeface="Inter Bold"/>
                <a:ea typeface="Inter Bold"/>
                <a:cs typeface="Inter Bold"/>
                <a:sym typeface="Inter Bold"/>
              </a:rPr>
              <a:t>Sohaila Yasser</a:t>
            </a:r>
          </a:p>
        </p:txBody>
      </p:sp>
      <p:sp useBgFill="1">
        <p:nvSpPr>
          <p:cNvPr id="15" name="Rectangle: Rounded Corners 14">
            <a:extLst>
              <a:ext uri="{FF2B5EF4-FFF2-40B4-BE49-F238E27FC236}">
                <a16:creationId xmlns:a16="http://schemas.microsoft.com/office/drawing/2014/main" id="{4498A76F-0ECC-89B3-CED5-438192A446A4}"/>
              </a:ext>
            </a:extLst>
          </p:cNvPr>
          <p:cNvSpPr/>
          <p:nvPr/>
        </p:nvSpPr>
        <p:spPr>
          <a:xfrm>
            <a:off x="10735449" y="3657487"/>
            <a:ext cx="4009039"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nSpc>
                <a:spcPts val="5040"/>
              </a:lnSpc>
            </a:pPr>
            <a:r>
              <a:rPr lang="en-US" sz="3600" b="1" dirty="0">
                <a:solidFill>
                  <a:srgbClr val="1B3A62"/>
                </a:solidFill>
                <a:latin typeface="Inter Bold"/>
                <a:ea typeface="Inter Bold"/>
                <a:cs typeface="Inter Bold"/>
                <a:sym typeface="Inter Bold"/>
              </a:rPr>
              <a:t>Ola Elnaggar</a:t>
            </a:r>
          </a:p>
        </p:txBody>
      </p:sp>
      <p:sp useBgFill="1">
        <p:nvSpPr>
          <p:cNvPr id="17" name="Rectangle: Rounded Corners 16">
            <a:extLst>
              <a:ext uri="{FF2B5EF4-FFF2-40B4-BE49-F238E27FC236}">
                <a16:creationId xmlns:a16="http://schemas.microsoft.com/office/drawing/2014/main" id="{4B17AF1E-C8DE-98D8-B27F-461FF2C39DE9}"/>
              </a:ext>
            </a:extLst>
          </p:cNvPr>
          <p:cNvSpPr/>
          <p:nvPr/>
        </p:nvSpPr>
        <p:spPr>
          <a:xfrm>
            <a:off x="10735449" y="5353003"/>
            <a:ext cx="4072853"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nSpc>
                <a:spcPts val="5040"/>
              </a:lnSpc>
            </a:pPr>
            <a:r>
              <a:rPr lang="en-US" sz="3600" b="1" dirty="0">
                <a:solidFill>
                  <a:srgbClr val="1B3A62"/>
                </a:solidFill>
                <a:latin typeface="Inter Bold"/>
                <a:ea typeface="Inter Bold"/>
                <a:cs typeface="Inter Bold"/>
                <a:sym typeface="Inter Bold"/>
              </a:rPr>
              <a:t>Ramez Remon</a:t>
            </a:r>
          </a:p>
        </p:txBody>
      </p:sp>
      <p:sp useBgFill="1">
        <p:nvSpPr>
          <p:cNvPr id="19" name="Rectangle: Rounded Corners 18">
            <a:extLst>
              <a:ext uri="{FF2B5EF4-FFF2-40B4-BE49-F238E27FC236}">
                <a16:creationId xmlns:a16="http://schemas.microsoft.com/office/drawing/2014/main" id="{C2A65308-EB4A-30AA-425D-C405650D7C76}"/>
              </a:ext>
            </a:extLst>
          </p:cNvPr>
          <p:cNvSpPr/>
          <p:nvPr/>
        </p:nvSpPr>
        <p:spPr>
          <a:xfrm>
            <a:off x="3479698" y="5353003"/>
            <a:ext cx="5040511"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gn="ctr">
              <a:lnSpc>
                <a:spcPts val="5040"/>
              </a:lnSpc>
            </a:pPr>
            <a:r>
              <a:rPr lang="en-US" sz="3600" b="1" dirty="0">
                <a:solidFill>
                  <a:srgbClr val="1B3A62"/>
                </a:solidFill>
                <a:latin typeface="Inter Bold"/>
                <a:ea typeface="Inter Bold"/>
                <a:cs typeface="Inter Bold"/>
                <a:sym typeface="Inter Bold"/>
              </a:rPr>
              <a:t>Ahmed </a:t>
            </a:r>
            <a:r>
              <a:rPr lang="en-US" sz="3600" b="1" dirty="0" err="1">
                <a:solidFill>
                  <a:srgbClr val="1B3A62"/>
                </a:solidFill>
                <a:latin typeface="Inter Bold"/>
                <a:ea typeface="Inter Bold"/>
                <a:cs typeface="Inter Bold"/>
                <a:sym typeface="Inter Bold"/>
              </a:rPr>
              <a:t>Elabyad</a:t>
            </a:r>
            <a:endParaRPr lang="en-US" sz="3600" b="1" dirty="0">
              <a:solidFill>
                <a:srgbClr val="1B3A62"/>
              </a:solidFill>
              <a:latin typeface="Inter Bold"/>
              <a:ea typeface="Inter Bold"/>
              <a:cs typeface="Inter Bold"/>
              <a:sym typeface="Inter Bold"/>
            </a:endParaRPr>
          </a:p>
        </p:txBody>
      </p:sp>
      <p:sp useBgFill="1">
        <p:nvSpPr>
          <p:cNvPr id="21" name="Rectangle: Rounded Corners 20">
            <a:extLst>
              <a:ext uri="{FF2B5EF4-FFF2-40B4-BE49-F238E27FC236}">
                <a16:creationId xmlns:a16="http://schemas.microsoft.com/office/drawing/2014/main" id="{A4016C91-E4FD-C2BE-7BE6-EB92D8C02B45}"/>
              </a:ext>
            </a:extLst>
          </p:cNvPr>
          <p:cNvSpPr/>
          <p:nvPr/>
        </p:nvSpPr>
        <p:spPr>
          <a:xfrm>
            <a:off x="6961469" y="8176515"/>
            <a:ext cx="4479842"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5040"/>
              </a:lnSpc>
            </a:pPr>
            <a:r>
              <a:rPr lang="en-US" sz="3600" b="1" dirty="0">
                <a:solidFill>
                  <a:srgbClr val="1B3A62"/>
                </a:solidFill>
                <a:latin typeface="Inter Bold"/>
                <a:ea typeface="Inter Bold"/>
                <a:cs typeface="Inter Bold"/>
                <a:sym typeface="Inter Bold"/>
              </a:rPr>
              <a:t>Eng. Ahmed Samir</a:t>
            </a:r>
          </a:p>
        </p:txBody>
      </p:sp>
      <p:sp>
        <p:nvSpPr>
          <p:cNvPr id="8" name="مربع نص 7">
            <a:extLst>
              <a:ext uri="{FF2B5EF4-FFF2-40B4-BE49-F238E27FC236}">
                <a16:creationId xmlns:a16="http://schemas.microsoft.com/office/drawing/2014/main" id="{2888E646-2EC0-4EC4-0732-9AFB97390FCF}"/>
              </a:ext>
            </a:extLst>
          </p:cNvPr>
          <p:cNvSpPr txBox="1"/>
          <p:nvPr/>
        </p:nvSpPr>
        <p:spPr>
          <a:xfrm>
            <a:off x="17221200" y="9123572"/>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1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1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1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dissolve">
                                      <p:cBhvr>
                                        <p:cTn id="27" dur="1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1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dissolve">
                                      <p:cBhvr>
                                        <p:cTn id="37" dur="1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checkerboard(across)">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linds(horizontal)">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animBg="1"/>
      <p:bldP spid="11" grpId="0" animBg="1"/>
      <p:bldP spid="13" grpId="0" animBg="1"/>
      <p:bldP spid="15" grpId="0" animBg="1"/>
      <p:bldP spid="17" grpId="0" animBg="1"/>
      <p:bldP spid="19" grpId="0" animBg="1"/>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p:cNvGrpSpPr/>
        <p:nvPr/>
      </p:nvGrpSpPr>
      <p:grpSpPr>
        <a:xfrm>
          <a:off x="0" y="0"/>
          <a:ext cx="0" cy="0"/>
          <a:chOff x="0" y="0"/>
          <a:chExt cx="0" cy="0"/>
        </a:xfrm>
      </p:grpSpPr>
      <p:grpSp>
        <p:nvGrpSpPr>
          <p:cNvPr id="2" name="Group 2"/>
          <p:cNvGrpSpPr/>
          <p:nvPr/>
        </p:nvGrpSpPr>
        <p:grpSpPr>
          <a:xfrm>
            <a:off x="11324971" y="0"/>
            <a:ext cx="6963029" cy="10287000"/>
            <a:chOff x="0" y="0"/>
            <a:chExt cx="1078755" cy="1297970"/>
          </a:xfrm>
        </p:grpSpPr>
        <p:sp>
          <p:nvSpPr>
            <p:cNvPr id="3" name="Freeform 3"/>
            <p:cNvSpPr/>
            <p:nvPr/>
          </p:nvSpPr>
          <p:spPr>
            <a:xfrm>
              <a:off x="0" y="0"/>
              <a:ext cx="1078755" cy="1297970"/>
            </a:xfrm>
            <a:custGeom>
              <a:avLst/>
              <a:gdLst/>
              <a:ahLst/>
              <a:cxnLst/>
              <a:rect l="l" t="t" r="r" b="b"/>
              <a:pathLst>
                <a:path w="1078755" h="1297970">
                  <a:moveTo>
                    <a:pt x="0" y="0"/>
                  </a:moveTo>
                  <a:lnTo>
                    <a:pt x="1078755" y="0"/>
                  </a:lnTo>
                  <a:lnTo>
                    <a:pt x="1078755" y="1297970"/>
                  </a:lnTo>
                  <a:lnTo>
                    <a:pt x="0" y="1297970"/>
                  </a:lnTo>
                  <a:close/>
                </a:path>
              </a:pathLst>
            </a:custGeom>
            <a:blipFill>
              <a:blip r:embed="rId2">
                <a:alphaModFix amt="34000"/>
              </a:blip>
              <a:stretch>
                <a:fillRect l="-78651" r="-1943"/>
              </a:stretch>
            </a:blipFill>
          </p:spPr>
          <p:txBody>
            <a:bodyPr/>
            <a:lstStyle/>
            <a:p>
              <a:endParaRPr lang="en-US"/>
            </a:p>
          </p:txBody>
        </p:sp>
      </p:grpSp>
      <p:sp>
        <p:nvSpPr>
          <p:cNvPr id="4" name="TextBox 4"/>
          <p:cNvSpPr txBox="1"/>
          <p:nvPr/>
        </p:nvSpPr>
        <p:spPr>
          <a:xfrm>
            <a:off x="381000" y="787450"/>
            <a:ext cx="4814677" cy="1308050"/>
          </a:xfrm>
          <a:prstGeom prst="rect">
            <a:avLst/>
          </a:prstGeom>
        </p:spPr>
        <p:txBody>
          <a:bodyPr wrap="square" lIns="0" tIns="0" rIns="0" bIns="0" rtlCol="0" anchor="t">
            <a:spAutoFit/>
          </a:bodyPr>
          <a:lstStyle/>
          <a:p>
            <a:pPr algn="r">
              <a:lnSpc>
                <a:spcPts val="10159"/>
              </a:lnSpc>
            </a:pPr>
            <a:r>
              <a:rPr lang="en-US" sz="7999" dirty="0">
                <a:solidFill>
                  <a:srgbClr val="002060"/>
                </a:solidFill>
                <a:latin typeface="League Spartan"/>
                <a:ea typeface="League Spartan"/>
                <a:cs typeface="League Spartan"/>
                <a:sym typeface="League Spartan"/>
              </a:rPr>
              <a:t>AGENDA</a:t>
            </a:r>
          </a:p>
        </p:txBody>
      </p:sp>
      <p:sp>
        <p:nvSpPr>
          <p:cNvPr id="6" name="TextBox 5">
            <a:extLst>
              <a:ext uri="{FF2B5EF4-FFF2-40B4-BE49-F238E27FC236}">
                <a16:creationId xmlns:a16="http://schemas.microsoft.com/office/drawing/2014/main" id="{1E8E37E7-6BAC-0DB3-0FD6-CD1DEDC4F4FF}"/>
              </a:ext>
            </a:extLst>
          </p:cNvPr>
          <p:cNvSpPr txBox="1"/>
          <p:nvPr/>
        </p:nvSpPr>
        <p:spPr>
          <a:xfrm>
            <a:off x="269111" y="2502046"/>
            <a:ext cx="3886200" cy="3877408"/>
          </a:xfrm>
          <a:prstGeom prst="rect">
            <a:avLst/>
          </a:prstGeom>
          <a:noFill/>
        </p:spPr>
        <p:txBody>
          <a:bodyPr wrap="square">
            <a:spAutoFit/>
          </a:bodyPr>
          <a:lstStyle/>
          <a:p>
            <a:pPr marL="845824" lvl="1" indent="-457200">
              <a:lnSpc>
                <a:spcPts val="5040"/>
              </a:lnSpc>
              <a:buFont typeface="Arial" panose="020B0604020202020204" pitchFamily="34" charset="0"/>
              <a:buChar char="•"/>
            </a:pPr>
            <a:r>
              <a:rPr lang="en-US" sz="3200" b="1" dirty="0">
                <a:solidFill>
                  <a:srgbClr val="1B3A62"/>
                </a:solidFill>
                <a:latin typeface="Inter Bold"/>
                <a:ea typeface="Inter Bold"/>
                <a:cs typeface="Inter Bold"/>
                <a:sym typeface="Inter Bold"/>
              </a:rPr>
              <a:t>Introduction</a:t>
            </a:r>
          </a:p>
          <a:p>
            <a:pPr marL="845824" lvl="1" indent="-457200">
              <a:lnSpc>
                <a:spcPts val="5040"/>
              </a:lnSpc>
              <a:buFont typeface="Arial" panose="020B0604020202020204" pitchFamily="34" charset="0"/>
              <a:buChar char="•"/>
            </a:pPr>
            <a:endParaRPr lang="en-US" sz="3200" b="1" dirty="0">
              <a:solidFill>
                <a:srgbClr val="1B3A62"/>
              </a:solidFill>
              <a:latin typeface="Inter Bold"/>
              <a:ea typeface="Inter Bold"/>
              <a:cs typeface="Inter Bold"/>
              <a:sym typeface="Inter Bold"/>
            </a:endParaRPr>
          </a:p>
          <a:p>
            <a:pPr marL="845824" lvl="1" indent="-457200">
              <a:lnSpc>
                <a:spcPts val="5040"/>
              </a:lnSpc>
              <a:buFont typeface="Arial" panose="020B0604020202020204" pitchFamily="34" charset="0"/>
              <a:buChar char="•"/>
            </a:pPr>
            <a:endParaRPr lang="en-US" sz="3200" b="1" dirty="0">
              <a:solidFill>
                <a:srgbClr val="1B3A62"/>
              </a:solidFill>
              <a:latin typeface="Inter Bold"/>
              <a:ea typeface="Inter Bold"/>
              <a:cs typeface="Inter Bold"/>
              <a:sym typeface="Inter Bold"/>
            </a:endParaRPr>
          </a:p>
          <a:p>
            <a:pPr marL="845824" lvl="1" indent="-457200">
              <a:lnSpc>
                <a:spcPts val="5040"/>
              </a:lnSpc>
              <a:buFont typeface="Arial" panose="020B0604020202020204" pitchFamily="34" charset="0"/>
              <a:buChar char="•"/>
            </a:pPr>
            <a:endParaRPr lang="en-US" sz="3200" b="1" dirty="0">
              <a:solidFill>
                <a:srgbClr val="1B3A62"/>
              </a:solidFill>
              <a:latin typeface="Inter Bold"/>
              <a:ea typeface="Inter Bold"/>
              <a:cs typeface="Inter Bold"/>
              <a:sym typeface="Inter Bold"/>
            </a:endParaRPr>
          </a:p>
          <a:p>
            <a:pPr marL="845824" lvl="1" indent="-457200">
              <a:lnSpc>
                <a:spcPts val="5040"/>
              </a:lnSpc>
              <a:buFont typeface="Arial" panose="020B0604020202020204" pitchFamily="34" charset="0"/>
              <a:buChar char="•"/>
            </a:pPr>
            <a:endParaRPr lang="en-US" sz="3200" b="1" dirty="0">
              <a:solidFill>
                <a:srgbClr val="1B3A62"/>
              </a:solidFill>
              <a:latin typeface="Inter Bold"/>
              <a:ea typeface="Inter Bold"/>
              <a:cs typeface="Inter Bold"/>
              <a:sym typeface="Inter Bold"/>
            </a:endParaRPr>
          </a:p>
          <a:p>
            <a:pPr marL="845824" lvl="1" indent="-457200">
              <a:lnSpc>
                <a:spcPts val="5040"/>
              </a:lnSpc>
              <a:buFont typeface="Arial" panose="020B0604020202020204" pitchFamily="34" charset="0"/>
              <a:buChar char="•"/>
            </a:pPr>
            <a:endParaRPr lang="en-US" sz="3200" b="1" dirty="0">
              <a:solidFill>
                <a:srgbClr val="1B3A62"/>
              </a:solidFill>
              <a:latin typeface="Inter Bold"/>
              <a:ea typeface="Inter Bold"/>
              <a:cs typeface="Inter Bold"/>
              <a:sym typeface="Inter Bold"/>
            </a:endParaRPr>
          </a:p>
        </p:txBody>
      </p:sp>
      <p:sp>
        <p:nvSpPr>
          <p:cNvPr id="8" name="TextBox 7">
            <a:extLst>
              <a:ext uri="{FF2B5EF4-FFF2-40B4-BE49-F238E27FC236}">
                <a16:creationId xmlns:a16="http://schemas.microsoft.com/office/drawing/2014/main" id="{B060B0EF-EA6F-096E-2FA5-DA2D5E54DD38}"/>
              </a:ext>
            </a:extLst>
          </p:cNvPr>
          <p:cNvSpPr txBox="1"/>
          <p:nvPr/>
        </p:nvSpPr>
        <p:spPr>
          <a:xfrm>
            <a:off x="273933" y="3379682"/>
            <a:ext cx="4398380" cy="671402"/>
          </a:xfrm>
          <a:prstGeom prst="rect">
            <a:avLst/>
          </a:prstGeom>
          <a:noFill/>
        </p:spPr>
        <p:txBody>
          <a:bodyPr wrap="square">
            <a:spAutoFit/>
          </a:bodyPr>
          <a:lstStyle/>
          <a:p>
            <a:pPr marL="845824" lvl="1" indent="-457200">
              <a:lnSpc>
                <a:spcPts val="5040"/>
              </a:lnSpc>
              <a:buFont typeface="Arial" panose="020B0604020202020204" pitchFamily="34" charset="0"/>
              <a:buChar char="•"/>
            </a:pPr>
            <a:r>
              <a:rPr lang="en-US" sz="3200" b="1" dirty="0">
                <a:solidFill>
                  <a:srgbClr val="1B3A62"/>
                </a:solidFill>
                <a:latin typeface="Inter Bold"/>
                <a:ea typeface="Inter Bold"/>
                <a:cs typeface="Inter Bold"/>
                <a:sym typeface="Inter Bold"/>
              </a:rPr>
              <a:t>Data Cleaning</a:t>
            </a:r>
          </a:p>
        </p:txBody>
      </p:sp>
      <p:sp>
        <p:nvSpPr>
          <p:cNvPr id="10" name="TextBox 9">
            <a:extLst>
              <a:ext uri="{FF2B5EF4-FFF2-40B4-BE49-F238E27FC236}">
                <a16:creationId xmlns:a16="http://schemas.microsoft.com/office/drawing/2014/main" id="{167A97E4-6CCD-349B-4413-9C18062A3AF6}"/>
              </a:ext>
            </a:extLst>
          </p:cNvPr>
          <p:cNvSpPr txBox="1"/>
          <p:nvPr/>
        </p:nvSpPr>
        <p:spPr>
          <a:xfrm>
            <a:off x="269110" y="4440750"/>
            <a:ext cx="10779890" cy="671402"/>
          </a:xfrm>
          <a:prstGeom prst="rect">
            <a:avLst/>
          </a:prstGeom>
          <a:noFill/>
        </p:spPr>
        <p:txBody>
          <a:bodyPr wrap="square">
            <a:spAutoFit/>
          </a:bodyPr>
          <a:lstStyle/>
          <a:p>
            <a:pPr marL="845824" lvl="1" indent="-457200">
              <a:lnSpc>
                <a:spcPts val="5040"/>
              </a:lnSpc>
              <a:buFont typeface="Arial" panose="020B0604020202020204" pitchFamily="34" charset="0"/>
              <a:buChar char="•"/>
            </a:pPr>
            <a:r>
              <a:rPr lang="en-US" sz="3200" b="1" dirty="0">
                <a:solidFill>
                  <a:srgbClr val="1B3A62"/>
                </a:solidFill>
                <a:latin typeface="Inter Bold"/>
                <a:ea typeface="Inter Bold"/>
                <a:cs typeface="Inter Bold"/>
                <a:sym typeface="Inter Bold"/>
              </a:rPr>
              <a:t>Exploratory Data Analysis &amp; Analysis Questions</a:t>
            </a:r>
          </a:p>
        </p:txBody>
      </p:sp>
      <p:sp>
        <p:nvSpPr>
          <p:cNvPr id="12" name="TextBox 11">
            <a:extLst>
              <a:ext uri="{FF2B5EF4-FFF2-40B4-BE49-F238E27FC236}">
                <a16:creationId xmlns:a16="http://schemas.microsoft.com/office/drawing/2014/main" id="{8D24AC58-4241-9F71-E23A-105A1E6CBDA3}"/>
              </a:ext>
            </a:extLst>
          </p:cNvPr>
          <p:cNvSpPr txBox="1"/>
          <p:nvPr/>
        </p:nvSpPr>
        <p:spPr>
          <a:xfrm>
            <a:off x="269111" y="5454306"/>
            <a:ext cx="4921743" cy="671402"/>
          </a:xfrm>
          <a:prstGeom prst="rect">
            <a:avLst/>
          </a:prstGeom>
          <a:noFill/>
        </p:spPr>
        <p:txBody>
          <a:bodyPr wrap="square">
            <a:spAutoFit/>
          </a:bodyPr>
          <a:lstStyle/>
          <a:p>
            <a:pPr marL="845824" lvl="1" indent="-457200">
              <a:lnSpc>
                <a:spcPts val="5040"/>
              </a:lnSpc>
              <a:buFont typeface="Arial" panose="020B0604020202020204" pitchFamily="34" charset="0"/>
              <a:buChar char="•"/>
            </a:pPr>
            <a:r>
              <a:rPr lang="en-US" sz="3200" b="1" dirty="0">
                <a:solidFill>
                  <a:srgbClr val="1B3A62"/>
                </a:solidFill>
                <a:latin typeface="Inter Bold"/>
                <a:ea typeface="Inter Bold"/>
                <a:cs typeface="Inter Bold"/>
                <a:sym typeface="Inter Bold"/>
              </a:rPr>
              <a:t>Data Visualization</a:t>
            </a:r>
          </a:p>
        </p:txBody>
      </p:sp>
      <p:sp>
        <p:nvSpPr>
          <p:cNvPr id="14" name="TextBox 13">
            <a:extLst>
              <a:ext uri="{FF2B5EF4-FFF2-40B4-BE49-F238E27FC236}">
                <a16:creationId xmlns:a16="http://schemas.microsoft.com/office/drawing/2014/main" id="{4F4BFC0E-A54C-2DEE-EE46-0D8232EE9519}"/>
              </a:ext>
            </a:extLst>
          </p:cNvPr>
          <p:cNvSpPr txBox="1"/>
          <p:nvPr/>
        </p:nvSpPr>
        <p:spPr>
          <a:xfrm>
            <a:off x="290331" y="7327935"/>
            <a:ext cx="8618320" cy="671402"/>
          </a:xfrm>
          <a:prstGeom prst="rect">
            <a:avLst/>
          </a:prstGeom>
          <a:noFill/>
        </p:spPr>
        <p:txBody>
          <a:bodyPr wrap="square">
            <a:spAutoFit/>
          </a:bodyPr>
          <a:lstStyle/>
          <a:p>
            <a:pPr marL="845824" lvl="1" indent="-457200">
              <a:lnSpc>
                <a:spcPts val="5040"/>
              </a:lnSpc>
              <a:buFont typeface="Arial" panose="020B0604020202020204" pitchFamily="34" charset="0"/>
              <a:buChar char="•"/>
            </a:pPr>
            <a:r>
              <a:rPr lang="en-US" sz="3200" b="1" dirty="0">
                <a:solidFill>
                  <a:srgbClr val="1B3A62"/>
                </a:solidFill>
                <a:latin typeface="Inter Bold"/>
                <a:ea typeface="Inter Bold"/>
                <a:cs typeface="Inter Bold"/>
                <a:sym typeface="Inter Bold"/>
              </a:rPr>
              <a:t>Conclusion &amp; Recommendations</a:t>
            </a:r>
          </a:p>
        </p:txBody>
      </p:sp>
      <p:sp>
        <p:nvSpPr>
          <p:cNvPr id="16" name="TextBox 15">
            <a:extLst>
              <a:ext uri="{FF2B5EF4-FFF2-40B4-BE49-F238E27FC236}">
                <a16:creationId xmlns:a16="http://schemas.microsoft.com/office/drawing/2014/main" id="{EA9996D4-79E7-3F02-413F-A6801BBEC593}"/>
              </a:ext>
            </a:extLst>
          </p:cNvPr>
          <p:cNvSpPr txBox="1"/>
          <p:nvPr/>
        </p:nvSpPr>
        <p:spPr>
          <a:xfrm>
            <a:off x="273933" y="6453298"/>
            <a:ext cx="4398380" cy="671402"/>
          </a:xfrm>
          <a:prstGeom prst="rect">
            <a:avLst/>
          </a:prstGeom>
          <a:noFill/>
        </p:spPr>
        <p:txBody>
          <a:bodyPr wrap="square">
            <a:spAutoFit/>
          </a:bodyPr>
          <a:lstStyle/>
          <a:p>
            <a:pPr marL="845824" lvl="1" indent="-457200">
              <a:lnSpc>
                <a:spcPts val="5040"/>
              </a:lnSpc>
              <a:buFont typeface="Arial" panose="020B0604020202020204" pitchFamily="34" charset="0"/>
              <a:buChar char="•"/>
            </a:pPr>
            <a:r>
              <a:rPr lang="en-US" sz="3200" b="1" dirty="0">
                <a:solidFill>
                  <a:srgbClr val="1B3A62"/>
                </a:solidFill>
                <a:latin typeface="Inter Bold"/>
                <a:ea typeface="Inter Bold"/>
                <a:cs typeface="Inter Bold"/>
                <a:sym typeface="Inter Bold"/>
              </a:rPr>
              <a:t>Prediction</a:t>
            </a:r>
          </a:p>
        </p:txBody>
      </p:sp>
      <p:sp>
        <p:nvSpPr>
          <p:cNvPr id="7" name="مربع نص 6">
            <a:extLst>
              <a:ext uri="{FF2B5EF4-FFF2-40B4-BE49-F238E27FC236}">
                <a16:creationId xmlns:a16="http://schemas.microsoft.com/office/drawing/2014/main" id="{AB4FE543-F3C0-CA89-2D5E-8A100F69A3E4}"/>
              </a:ext>
            </a:extLst>
          </p:cNvPr>
          <p:cNvSpPr txBox="1"/>
          <p:nvPr/>
        </p:nvSpPr>
        <p:spPr>
          <a:xfrm>
            <a:off x="17221200" y="9105900"/>
            <a:ext cx="9160328"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3</a:t>
            </a: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2279915E-D699-E55A-282C-90F43F274A4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E20A542-41F2-1A93-7956-962D46807744}"/>
              </a:ext>
            </a:extLst>
          </p:cNvPr>
          <p:cNvSpPr txBox="1"/>
          <p:nvPr/>
        </p:nvSpPr>
        <p:spPr>
          <a:xfrm>
            <a:off x="6387950" y="586527"/>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Used</a:t>
            </a:r>
            <a:r>
              <a:rPr lang="en-US" b="1" dirty="0">
                <a:solidFill>
                  <a:srgbClr val="1B3A62"/>
                </a:solidFill>
                <a:latin typeface="Inter Bold"/>
                <a:ea typeface="Inter Bold"/>
                <a:cs typeface="Inter Bold"/>
                <a:sym typeface="Inter Bold"/>
              </a:rPr>
              <a:t> </a:t>
            </a:r>
            <a:r>
              <a:rPr lang="en-US" sz="4400" b="1" dirty="0">
                <a:solidFill>
                  <a:srgbClr val="1B3A62"/>
                </a:solidFill>
                <a:latin typeface="Inter Bold"/>
                <a:ea typeface="Inter Bold"/>
                <a:cs typeface="Inter Bold"/>
                <a:sym typeface="Inter Bold"/>
              </a:rPr>
              <a:t>Tools</a:t>
            </a:r>
          </a:p>
        </p:txBody>
      </p:sp>
      <p:sp>
        <p:nvSpPr>
          <p:cNvPr id="28" name="TextBox 27">
            <a:extLst>
              <a:ext uri="{FF2B5EF4-FFF2-40B4-BE49-F238E27FC236}">
                <a16:creationId xmlns:a16="http://schemas.microsoft.com/office/drawing/2014/main" id="{1A3AD856-82D4-8330-8935-30C1F9788D25}"/>
              </a:ext>
            </a:extLst>
          </p:cNvPr>
          <p:cNvSpPr txBox="1"/>
          <p:nvPr/>
        </p:nvSpPr>
        <p:spPr>
          <a:xfrm>
            <a:off x="3089100" y="4500973"/>
            <a:ext cx="184731" cy="523220"/>
          </a:xfrm>
          <a:prstGeom prst="rect">
            <a:avLst/>
          </a:prstGeom>
          <a:noFill/>
        </p:spPr>
        <p:txBody>
          <a:bodyPr wrap="none" rtlCol="0">
            <a:spAutoFit/>
          </a:bodyPr>
          <a:lstStyle/>
          <a:p>
            <a:endParaRPr lang="en-US" sz="2800" b="1" dirty="0">
              <a:solidFill>
                <a:schemeClr val="tx2"/>
              </a:solidFill>
            </a:endParaRPr>
          </a:p>
        </p:txBody>
      </p:sp>
      <p:grpSp>
        <p:nvGrpSpPr>
          <p:cNvPr id="7" name="Group 6">
            <a:extLst>
              <a:ext uri="{FF2B5EF4-FFF2-40B4-BE49-F238E27FC236}">
                <a16:creationId xmlns:a16="http://schemas.microsoft.com/office/drawing/2014/main" id="{3FE255B5-83D2-D564-8515-3758E6011E05}"/>
              </a:ext>
            </a:extLst>
          </p:cNvPr>
          <p:cNvGrpSpPr/>
          <p:nvPr/>
        </p:nvGrpSpPr>
        <p:grpSpPr>
          <a:xfrm>
            <a:off x="6938035" y="1973180"/>
            <a:ext cx="2594891" cy="1942274"/>
            <a:chOff x="6085204" y="1889351"/>
            <a:chExt cx="2594891" cy="1942274"/>
          </a:xfrm>
        </p:grpSpPr>
        <p:sp useBgFill="1">
          <p:nvSpPr>
            <p:cNvPr id="24" name="Rectangle: Rounded Corners 23">
              <a:extLst>
                <a:ext uri="{FF2B5EF4-FFF2-40B4-BE49-F238E27FC236}">
                  <a16:creationId xmlns:a16="http://schemas.microsoft.com/office/drawing/2014/main" id="{9B2FF8F2-6106-EBC7-9F09-9B04C7CC3B96}"/>
                </a:ext>
              </a:extLst>
            </p:cNvPr>
            <p:cNvSpPr/>
            <p:nvPr/>
          </p:nvSpPr>
          <p:spPr>
            <a:xfrm>
              <a:off x="6355995" y="2345725"/>
              <a:ext cx="2324100" cy="14859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Python</a:t>
              </a:r>
            </a:p>
          </p:txBody>
        </p:sp>
        <p:sp>
          <p:nvSpPr>
            <p:cNvPr id="39" name="Flowchart: Connector 38">
              <a:extLst>
                <a:ext uri="{FF2B5EF4-FFF2-40B4-BE49-F238E27FC236}">
                  <a16:creationId xmlns:a16="http://schemas.microsoft.com/office/drawing/2014/main" id="{AB0DA95F-FDD0-C8DC-85FD-FC662EDA942B}"/>
                </a:ext>
              </a:extLst>
            </p:cNvPr>
            <p:cNvSpPr/>
            <p:nvPr/>
          </p:nvSpPr>
          <p:spPr>
            <a:xfrm>
              <a:off x="6210722" y="2013061"/>
              <a:ext cx="1042521" cy="9906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A50B2FFE-5D3A-B596-5532-553B769C8C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85204" y="1889351"/>
              <a:ext cx="1339109" cy="1339109"/>
            </a:xfrm>
            <a:prstGeom prst="rect">
              <a:avLst/>
            </a:prstGeom>
          </p:spPr>
        </p:pic>
      </p:grpSp>
      <p:grpSp>
        <p:nvGrpSpPr>
          <p:cNvPr id="5" name="Group 4">
            <a:extLst>
              <a:ext uri="{FF2B5EF4-FFF2-40B4-BE49-F238E27FC236}">
                <a16:creationId xmlns:a16="http://schemas.microsoft.com/office/drawing/2014/main" id="{56E20F31-2D13-49C7-26B2-E6FADEC4AD70}"/>
              </a:ext>
            </a:extLst>
          </p:cNvPr>
          <p:cNvGrpSpPr/>
          <p:nvPr/>
        </p:nvGrpSpPr>
        <p:grpSpPr>
          <a:xfrm>
            <a:off x="607429" y="2105678"/>
            <a:ext cx="2606532" cy="1854791"/>
            <a:chOff x="867471" y="1993104"/>
            <a:chExt cx="2606532" cy="1854791"/>
          </a:xfrm>
        </p:grpSpPr>
        <p:grpSp>
          <p:nvGrpSpPr>
            <p:cNvPr id="3" name="Group 2">
              <a:extLst>
                <a:ext uri="{FF2B5EF4-FFF2-40B4-BE49-F238E27FC236}">
                  <a16:creationId xmlns:a16="http://schemas.microsoft.com/office/drawing/2014/main" id="{2E87A8DA-6617-D23C-78DF-567FFB2D7659}"/>
                </a:ext>
              </a:extLst>
            </p:cNvPr>
            <p:cNvGrpSpPr/>
            <p:nvPr/>
          </p:nvGrpSpPr>
          <p:grpSpPr>
            <a:xfrm>
              <a:off x="867471" y="2009374"/>
              <a:ext cx="2606532" cy="1838521"/>
              <a:chOff x="867471" y="1993104"/>
              <a:chExt cx="2606532" cy="1838521"/>
            </a:xfrm>
          </p:grpSpPr>
          <p:sp useBgFill="1">
            <p:nvSpPr>
              <p:cNvPr id="11" name="Rectangle: Rounded Corners 10">
                <a:extLst>
                  <a:ext uri="{FF2B5EF4-FFF2-40B4-BE49-F238E27FC236}">
                    <a16:creationId xmlns:a16="http://schemas.microsoft.com/office/drawing/2014/main" id="{C1CD2574-28C4-ABF3-F485-7A2B48C6B2BB}"/>
                  </a:ext>
                </a:extLst>
              </p:cNvPr>
              <p:cNvSpPr/>
              <p:nvPr/>
            </p:nvSpPr>
            <p:spPr>
              <a:xfrm>
                <a:off x="1149903" y="2345725"/>
                <a:ext cx="2324100" cy="14859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Microsoft Excel</a:t>
                </a:r>
              </a:p>
            </p:txBody>
          </p:sp>
          <p:sp>
            <p:nvSpPr>
              <p:cNvPr id="37" name="Flowchart: Connector 36">
                <a:extLst>
                  <a:ext uri="{FF2B5EF4-FFF2-40B4-BE49-F238E27FC236}">
                    <a16:creationId xmlns:a16="http://schemas.microsoft.com/office/drawing/2014/main" id="{B7A58B57-03DD-786E-CD9D-61296CB48BBD}"/>
                  </a:ext>
                </a:extLst>
              </p:cNvPr>
              <p:cNvSpPr/>
              <p:nvPr/>
            </p:nvSpPr>
            <p:spPr>
              <a:xfrm>
                <a:off x="867471" y="1993104"/>
                <a:ext cx="1042521" cy="9906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5" name="Picture 44">
              <a:extLst>
                <a:ext uri="{FF2B5EF4-FFF2-40B4-BE49-F238E27FC236}">
                  <a16:creationId xmlns:a16="http://schemas.microsoft.com/office/drawing/2014/main" id="{D1EBD738-CC7D-7425-1828-9A2D1B5A68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881570" y="1993104"/>
              <a:ext cx="1159795" cy="1159795"/>
            </a:xfrm>
            <a:prstGeom prst="rect">
              <a:avLst/>
            </a:prstGeom>
          </p:spPr>
        </p:pic>
      </p:grpSp>
      <p:grpSp>
        <p:nvGrpSpPr>
          <p:cNvPr id="6" name="Group 5">
            <a:extLst>
              <a:ext uri="{FF2B5EF4-FFF2-40B4-BE49-F238E27FC236}">
                <a16:creationId xmlns:a16="http://schemas.microsoft.com/office/drawing/2014/main" id="{21D70E13-67FE-54F3-66EF-533B6C61CF45}"/>
              </a:ext>
            </a:extLst>
          </p:cNvPr>
          <p:cNvGrpSpPr/>
          <p:nvPr/>
        </p:nvGrpSpPr>
        <p:grpSpPr>
          <a:xfrm>
            <a:off x="3780619" y="1978257"/>
            <a:ext cx="2502954" cy="1940283"/>
            <a:chOff x="3563482" y="1891342"/>
            <a:chExt cx="2502954" cy="1940283"/>
          </a:xfrm>
        </p:grpSpPr>
        <p:sp useBgFill="1">
          <p:nvSpPr>
            <p:cNvPr id="23" name="Rectangle: Rounded Corners 22">
              <a:extLst>
                <a:ext uri="{FF2B5EF4-FFF2-40B4-BE49-F238E27FC236}">
                  <a16:creationId xmlns:a16="http://schemas.microsoft.com/office/drawing/2014/main" id="{8B770FF9-D95B-ACC9-3992-FD8B831CCCB6}"/>
                </a:ext>
              </a:extLst>
            </p:cNvPr>
            <p:cNvSpPr/>
            <p:nvPr/>
          </p:nvSpPr>
          <p:spPr>
            <a:xfrm>
              <a:off x="3742336" y="2345725"/>
              <a:ext cx="2324100" cy="14859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SQL</a:t>
              </a:r>
            </a:p>
          </p:txBody>
        </p:sp>
        <p:sp>
          <p:nvSpPr>
            <p:cNvPr id="38" name="Flowchart: Connector 37">
              <a:extLst>
                <a:ext uri="{FF2B5EF4-FFF2-40B4-BE49-F238E27FC236}">
                  <a16:creationId xmlns:a16="http://schemas.microsoft.com/office/drawing/2014/main" id="{E74B59C7-9016-3C95-6597-52045353E533}"/>
                </a:ext>
              </a:extLst>
            </p:cNvPr>
            <p:cNvSpPr/>
            <p:nvPr/>
          </p:nvSpPr>
          <p:spPr>
            <a:xfrm>
              <a:off x="3563482" y="1993104"/>
              <a:ext cx="1042521" cy="9906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2AC04962-8A7A-C620-5882-292C1604A3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75856" y="1891342"/>
              <a:ext cx="1159795" cy="1159795"/>
            </a:xfrm>
            <a:prstGeom prst="rect">
              <a:avLst/>
            </a:prstGeom>
          </p:spPr>
        </p:pic>
      </p:grpSp>
      <p:grpSp>
        <p:nvGrpSpPr>
          <p:cNvPr id="10" name="Group 9">
            <a:extLst>
              <a:ext uri="{FF2B5EF4-FFF2-40B4-BE49-F238E27FC236}">
                <a16:creationId xmlns:a16="http://schemas.microsoft.com/office/drawing/2014/main" id="{76E87460-FEED-0954-141B-A2000A76FB39}"/>
              </a:ext>
            </a:extLst>
          </p:cNvPr>
          <p:cNvGrpSpPr/>
          <p:nvPr/>
        </p:nvGrpSpPr>
        <p:grpSpPr>
          <a:xfrm>
            <a:off x="14079581" y="2008900"/>
            <a:ext cx="2326257" cy="1920680"/>
            <a:chOff x="12959897" y="1894493"/>
            <a:chExt cx="2326257" cy="1920680"/>
          </a:xfrm>
        </p:grpSpPr>
        <p:sp useBgFill="1">
          <p:nvSpPr>
            <p:cNvPr id="26" name="Rectangle: Rounded Corners 25">
              <a:extLst>
                <a:ext uri="{FF2B5EF4-FFF2-40B4-BE49-F238E27FC236}">
                  <a16:creationId xmlns:a16="http://schemas.microsoft.com/office/drawing/2014/main" id="{C935930A-9D0B-2D11-7F54-CA19A0C30BCF}"/>
                </a:ext>
              </a:extLst>
            </p:cNvPr>
            <p:cNvSpPr/>
            <p:nvPr/>
          </p:nvSpPr>
          <p:spPr>
            <a:xfrm>
              <a:off x="12962054" y="2329273"/>
              <a:ext cx="2324100" cy="14859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Power BI</a:t>
              </a:r>
            </a:p>
          </p:txBody>
        </p:sp>
        <p:sp>
          <p:nvSpPr>
            <p:cNvPr id="41" name="Flowchart: Connector 40">
              <a:extLst>
                <a:ext uri="{FF2B5EF4-FFF2-40B4-BE49-F238E27FC236}">
                  <a16:creationId xmlns:a16="http://schemas.microsoft.com/office/drawing/2014/main" id="{C0CF3139-9E80-0A8F-8736-D6D5AAB21EB5}"/>
                </a:ext>
              </a:extLst>
            </p:cNvPr>
            <p:cNvSpPr/>
            <p:nvPr/>
          </p:nvSpPr>
          <p:spPr>
            <a:xfrm>
              <a:off x="12959897" y="1894493"/>
              <a:ext cx="992282" cy="1010557"/>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Graphic 50">
              <a:extLst>
                <a:ext uri="{FF2B5EF4-FFF2-40B4-BE49-F238E27FC236}">
                  <a16:creationId xmlns:a16="http://schemas.microsoft.com/office/drawing/2014/main" id="{10E9A7CD-183E-8923-B584-AED9AC1E92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071523" y="2000013"/>
              <a:ext cx="754547" cy="754547"/>
            </a:xfrm>
            <a:prstGeom prst="rect">
              <a:avLst/>
            </a:prstGeom>
          </p:spPr>
        </p:pic>
      </p:grpSp>
      <p:grpSp>
        <p:nvGrpSpPr>
          <p:cNvPr id="13" name="Group 12">
            <a:extLst>
              <a:ext uri="{FF2B5EF4-FFF2-40B4-BE49-F238E27FC236}">
                <a16:creationId xmlns:a16="http://schemas.microsoft.com/office/drawing/2014/main" id="{72AE0A37-51F6-B1D5-0AAA-64C11A099234}"/>
              </a:ext>
            </a:extLst>
          </p:cNvPr>
          <p:cNvGrpSpPr/>
          <p:nvPr/>
        </p:nvGrpSpPr>
        <p:grpSpPr>
          <a:xfrm>
            <a:off x="10028064" y="1826666"/>
            <a:ext cx="2927370" cy="2086797"/>
            <a:chOff x="10088770" y="1763284"/>
            <a:chExt cx="2927370" cy="2086797"/>
          </a:xfrm>
        </p:grpSpPr>
        <p:sp useBgFill="1">
          <p:nvSpPr>
            <p:cNvPr id="25" name="Rectangle: Rounded Corners 24">
              <a:extLst>
                <a:ext uri="{FF2B5EF4-FFF2-40B4-BE49-F238E27FC236}">
                  <a16:creationId xmlns:a16="http://schemas.microsoft.com/office/drawing/2014/main" id="{B37B7AFE-EE35-1BBF-C3C9-D832E10220D0}"/>
                </a:ext>
              </a:extLst>
            </p:cNvPr>
            <p:cNvSpPr/>
            <p:nvPr/>
          </p:nvSpPr>
          <p:spPr>
            <a:xfrm>
              <a:off x="10692040" y="2364181"/>
              <a:ext cx="2324100" cy="14859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Tableau</a:t>
              </a:r>
            </a:p>
          </p:txBody>
        </p:sp>
        <p:sp>
          <p:nvSpPr>
            <p:cNvPr id="40" name="Flowchart: Connector 39">
              <a:extLst>
                <a:ext uri="{FF2B5EF4-FFF2-40B4-BE49-F238E27FC236}">
                  <a16:creationId xmlns:a16="http://schemas.microsoft.com/office/drawing/2014/main" id="{853EB1D4-EEF6-E681-B564-7C51030AAC08}"/>
                </a:ext>
              </a:extLst>
            </p:cNvPr>
            <p:cNvSpPr/>
            <p:nvPr/>
          </p:nvSpPr>
          <p:spPr>
            <a:xfrm>
              <a:off x="10593688" y="1959135"/>
              <a:ext cx="992282" cy="1010557"/>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A2DD9BEC-BB41-971D-9411-75329F600AB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88770" y="1763284"/>
              <a:ext cx="2002117" cy="1819130"/>
            </a:xfrm>
            <a:prstGeom prst="rect">
              <a:avLst/>
            </a:prstGeom>
          </p:spPr>
        </p:pic>
      </p:grpSp>
      <p:sp>
        <p:nvSpPr>
          <p:cNvPr id="14" name="Flowchart: Alternate Process 13">
            <a:extLst>
              <a:ext uri="{FF2B5EF4-FFF2-40B4-BE49-F238E27FC236}">
                <a16:creationId xmlns:a16="http://schemas.microsoft.com/office/drawing/2014/main" id="{577AF8FB-B58F-64DA-2B7B-4298E0EEE5D5}"/>
              </a:ext>
            </a:extLst>
          </p:cNvPr>
          <p:cNvSpPr/>
          <p:nvPr/>
        </p:nvSpPr>
        <p:spPr>
          <a:xfrm>
            <a:off x="666034" y="3791821"/>
            <a:ext cx="2771754" cy="4979591"/>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a:t>
            </a:r>
            <a:r>
              <a:rPr lang="en-US" b="1" dirty="0"/>
              <a:t>Conducted preliminary data profiling to identify missing values and duplicate rows.</a:t>
            </a:r>
          </a:p>
          <a:p>
            <a:pPr marL="285750" indent="-285750">
              <a:buFont typeface="Arial" panose="020B0604020202020204" pitchFamily="34" charset="0"/>
              <a:buChar char="•"/>
            </a:pPr>
            <a:r>
              <a:rPr lang="en-US" b="1" dirty="0"/>
              <a:t>​Executed Data Normalization by breaking down the single flat Superstore sheet into structured tables.</a:t>
            </a:r>
          </a:p>
          <a:p>
            <a:pPr marL="285750" indent="-285750">
              <a:buFont typeface="Arial" panose="020B0604020202020204" pitchFamily="34" charset="0"/>
              <a:buChar char="•"/>
            </a:pPr>
            <a:r>
              <a:rPr lang="en-US" b="1" dirty="0"/>
              <a:t>​Utilized Power Query to clean and shape the newly normalized data schemas.</a:t>
            </a:r>
          </a:p>
        </p:txBody>
      </p:sp>
      <p:sp>
        <p:nvSpPr>
          <p:cNvPr id="15" name="Flowchart: Alternate Process 14">
            <a:extLst>
              <a:ext uri="{FF2B5EF4-FFF2-40B4-BE49-F238E27FC236}">
                <a16:creationId xmlns:a16="http://schemas.microsoft.com/office/drawing/2014/main" id="{C5EBCB38-FC28-F5B4-0CEF-E142D4E4AB16}"/>
              </a:ext>
            </a:extLst>
          </p:cNvPr>
          <p:cNvSpPr/>
          <p:nvPr/>
        </p:nvSpPr>
        <p:spPr>
          <a:xfrm>
            <a:off x="3754001" y="3791821"/>
            <a:ext cx="2812169" cy="501362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t>Imported the normalized Excel tables into structured relational databases (Orders, Customers, Products).</a:t>
            </a:r>
          </a:p>
          <a:p>
            <a:pPr marL="285750" indent="-285750">
              <a:buFont typeface="Arial" panose="020B0604020202020204" pitchFamily="34" charset="0"/>
              <a:buChar char="•"/>
            </a:pPr>
            <a:r>
              <a:rPr lang="en-US" b="1" dirty="0"/>
              <a:t>​Enforced data integrity by defining optimal Primary Keys and Foreign Keys between tables.</a:t>
            </a:r>
          </a:p>
          <a:p>
            <a:pPr marL="285750" indent="-285750">
              <a:buFont typeface="Arial" panose="020B0604020202020204" pitchFamily="34" charset="0"/>
              <a:buChar char="•"/>
            </a:pPr>
            <a:r>
              <a:rPr lang="en-US" b="1" dirty="0"/>
              <a:t>​Wrote efficient SQL queries and joins to retrieve consolidated datasets for analysis.</a:t>
            </a:r>
          </a:p>
        </p:txBody>
      </p:sp>
      <p:sp>
        <p:nvSpPr>
          <p:cNvPr id="19" name="Flowchart: Alternate Process 18">
            <a:extLst>
              <a:ext uri="{FF2B5EF4-FFF2-40B4-BE49-F238E27FC236}">
                <a16:creationId xmlns:a16="http://schemas.microsoft.com/office/drawing/2014/main" id="{CD30328E-6B82-7716-564F-C409A3338A33}"/>
              </a:ext>
            </a:extLst>
          </p:cNvPr>
          <p:cNvSpPr/>
          <p:nvPr/>
        </p:nvSpPr>
        <p:spPr>
          <a:xfrm>
            <a:off x="7068369" y="3757786"/>
            <a:ext cx="2812169" cy="501362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t>​Handled data wrangling, missing values, and data type conversions using Pandas.</a:t>
            </a:r>
          </a:p>
          <a:p>
            <a:pPr marL="285750" indent="-285750">
              <a:buFont typeface="Arial" panose="020B0604020202020204" pitchFamily="34" charset="0"/>
              <a:buChar char="•"/>
            </a:pPr>
            <a:r>
              <a:rPr lang="en-US" b="1" dirty="0"/>
              <a:t>​Performed exploratory data analysis (EDA) to understand sales distributions.</a:t>
            </a:r>
          </a:p>
          <a:p>
            <a:pPr marL="285750" indent="-285750">
              <a:buFont typeface="Arial" panose="020B0604020202020204" pitchFamily="34" charset="0"/>
              <a:buChar char="•"/>
            </a:pPr>
            <a:r>
              <a:rPr lang="en-US" b="1" dirty="0"/>
              <a:t>​Conducted detailed statistical analysis to extract key performance trends.</a:t>
            </a:r>
          </a:p>
        </p:txBody>
      </p:sp>
      <p:sp>
        <p:nvSpPr>
          <p:cNvPr id="20" name="Flowchart: Alternate Process 19">
            <a:extLst>
              <a:ext uri="{FF2B5EF4-FFF2-40B4-BE49-F238E27FC236}">
                <a16:creationId xmlns:a16="http://schemas.microsoft.com/office/drawing/2014/main" id="{1CD60B8E-6E39-7997-F5BB-2C3D5EE3457E}"/>
              </a:ext>
            </a:extLst>
          </p:cNvPr>
          <p:cNvSpPr/>
          <p:nvPr/>
        </p:nvSpPr>
        <p:spPr>
          <a:xfrm>
            <a:off x="10429742" y="3823153"/>
            <a:ext cx="2812169" cy="501362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t>Built interactive dynamic dashboards focusing on Shipping, product, and customer metrics.</a:t>
            </a:r>
          </a:p>
          <a:p>
            <a:pPr marL="285750" indent="-285750">
              <a:buFont typeface="Arial" panose="020B0604020202020204" pitchFamily="34" charset="0"/>
              <a:buChar char="•"/>
            </a:pPr>
            <a:r>
              <a:rPr lang="en-US" b="1" dirty="0"/>
              <a:t>​Designed advanced visual layouts using trend lines and custom KPI cards.</a:t>
            </a:r>
          </a:p>
          <a:p>
            <a:pPr marL="285750" indent="-285750">
              <a:buFont typeface="Arial" panose="020B0604020202020204" pitchFamily="34" charset="0"/>
              <a:buChar char="•"/>
            </a:pPr>
            <a:r>
              <a:rPr lang="en-US" b="1" dirty="0"/>
              <a:t>​Implemented flexible sorting, axis swapping, and granular filtering options.</a:t>
            </a:r>
          </a:p>
        </p:txBody>
      </p:sp>
      <p:sp>
        <p:nvSpPr>
          <p:cNvPr id="21" name="Flowchart: Alternate Process 20">
            <a:extLst>
              <a:ext uri="{FF2B5EF4-FFF2-40B4-BE49-F238E27FC236}">
                <a16:creationId xmlns:a16="http://schemas.microsoft.com/office/drawing/2014/main" id="{45BA87A3-ABA8-163F-FA93-0AEE6FC345AF}"/>
              </a:ext>
            </a:extLst>
          </p:cNvPr>
          <p:cNvSpPr/>
          <p:nvPr/>
        </p:nvSpPr>
        <p:spPr>
          <a:xfrm>
            <a:off x="13862387" y="3820089"/>
            <a:ext cx="2812169" cy="5013626"/>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t>Formulated dynamic calculated columns and sales metrics using DAX expressions.</a:t>
            </a:r>
          </a:p>
          <a:p>
            <a:pPr marL="285750" indent="-285750">
              <a:buFont typeface="Arial" panose="020B0604020202020204" pitchFamily="34" charset="0"/>
              <a:buChar char="•"/>
            </a:pPr>
            <a:r>
              <a:rPr lang="en-US" b="1" dirty="0"/>
              <a:t>​Built interactive dynamic dashboards focusing on Shipping, product, and customer metrics.</a:t>
            </a:r>
          </a:p>
          <a:p>
            <a:pPr marL="285750" indent="-285750">
              <a:buFont typeface="Arial" panose="020B0604020202020204" pitchFamily="34" charset="0"/>
              <a:buChar char="•"/>
            </a:pPr>
            <a:r>
              <a:rPr lang="en-US" b="1" dirty="0"/>
              <a:t>​Designed standardized, brand-consistent canvases to display executive insights.</a:t>
            </a:r>
          </a:p>
        </p:txBody>
      </p:sp>
      <p:sp>
        <p:nvSpPr>
          <p:cNvPr id="9" name="مربع نص 8">
            <a:extLst>
              <a:ext uri="{FF2B5EF4-FFF2-40B4-BE49-F238E27FC236}">
                <a16:creationId xmlns:a16="http://schemas.microsoft.com/office/drawing/2014/main" id="{9D676DF0-EE1E-FE5B-03AE-5C645D52B146}"/>
              </a:ext>
            </a:extLst>
          </p:cNvPr>
          <p:cNvSpPr txBox="1"/>
          <p:nvPr/>
        </p:nvSpPr>
        <p:spPr>
          <a:xfrm>
            <a:off x="1609619" y="9344680"/>
            <a:ext cx="7458181" cy="523220"/>
          </a:xfrm>
          <a:prstGeom prst="rect">
            <a:avLst/>
          </a:prstGeom>
          <a:noFill/>
        </p:spPr>
        <p:txBody>
          <a:bodyPr wrap="square">
            <a:spAutoFit/>
          </a:bodyPr>
          <a:lstStyle/>
          <a:p>
            <a:pPr algn="ctr"/>
            <a:r>
              <a:rPr lang="en-US" sz="2800" b="1" dirty="0">
                <a:solidFill>
                  <a:schemeClr val="tx2"/>
                </a:solidFill>
              </a:rPr>
              <a:t>Cleaning &amp; Analysis</a:t>
            </a:r>
          </a:p>
        </p:txBody>
      </p:sp>
      <p:sp>
        <p:nvSpPr>
          <p:cNvPr id="16" name="مربع نص 15">
            <a:extLst>
              <a:ext uri="{FF2B5EF4-FFF2-40B4-BE49-F238E27FC236}">
                <a16:creationId xmlns:a16="http://schemas.microsoft.com/office/drawing/2014/main" id="{C9AD8B8F-308F-20D6-EC83-172FF500E932}"/>
              </a:ext>
            </a:extLst>
          </p:cNvPr>
          <p:cNvSpPr txBox="1"/>
          <p:nvPr/>
        </p:nvSpPr>
        <p:spPr>
          <a:xfrm>
            <a:off x="9067800" y="9262104"/>
            <a:ext cx="9144000" cy="523220"/>
          </a:xfrm>
          <a:prstGeom prst="rect">
            <a:avLst/>
          </a:prstGeom>
          <a:noFill/>
        </p:spPr>
        <p:txBody>
          <a:bodyPr wrap="square">
            <a:spAutoFit/>
          </a:bodyPr>
          <a:lstStyle/>
          <a:p>
            <a:pPr algn="ctr"/>
            <a:r>
              <a:rPr lang="en-US" sz="2800" b="1" dirty="0">
                <a:solidFill>
                  <a:schemeClr val="tx2"/>
                </a:solidFill>
              </a:rPr>
              <a:t>Visuals</a:t>
            </a:r>
          </a:p>
        </p:txBody>
      </p:sp>
      <p:sp>
        <p:nvSpPr>
          <p:cNvPr id="17" name="مربع نص 16">
            <a:extLst>
              <a:ext uri="{FF2B5EF4-FFF2-40B4-BE49-F238E27FC236}">
                <a16:creationId xmlns:a16="http://schemas.microsoft.com/office/drawing/2014/main" id="{3A049BF4-0D1C-6182-59D2-6395F8E7F62F}"/>
              </a:ext>
            </a:extLst>
          </p:cNvPr>
          <p:cNvSpPr txBox="1"/>
          <p:nvPr/>
        </p:nvSpPr>
        <p:spPr>
          <a:xfrm>
            <a:off x="-3561347" y="9496926"/>
            <a:ext cx="184731" cy="369332"/>
          </a:xfrm>
          <a:prstGeom prst="rect">
            <a:avLst/>
          </a:prstGeom>
          <a:noFill/>
        </p:spPr>
        <p:txBody>
          <a:bodyPr wrap="none" rtlCol="1">
            <a:spAutoFit/>
          </a:bodyPr>
          <a:lstStyle/>
          <a:p>
            <a:endParaRPr lang="ar-EG"/>
          </a:p>
        </p:txBody>
      </p:sp>
      <p:sp>
        <p:nvSpPr>
          <p:cNvPr id="4" name="مربع نص 3">
            <a:extLst>
              <a:ext uri="{FF2B5EF4-FFF2-40B4-BE49-F238E27FC236}">
                <a16:creationId xmlns:a16="http://schemas.microsoft.com/office/drawing/2014/main" id="{170A9F6D-3257-DD73-CAD4-98EB74B0CDBB}"/>
              </a:ext>
            </a:extLst>
          </p:cNvPr>
          <p:cNvSpPr txBox="1"/>
          <p:nvPr/>
        </p:nvSpPr>
        <p:spPr>
          <a:xfrm>
            <a:off x="17221200" y="9099131"/>
            <a:ext cx="10923814"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4</a:t>
            </a:r>
          </a:p>
        </p:txBody>
      </p:sp>
    </p:spTree>
    <p:extLst>
      <p:ext uri="{BB962C8B-B14F-4D97-AF65-F5344CB8AC3E}">
        <p14:creationId xmlns:p14="http://schemas.microsoft.com/office/powerpoint/2010/main" val="333834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down)">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fill="hold"/>
                                        <p:tgtEl>
                                          <p:spTgt spid="7"/>
                                        </p:tgtEl>
                                        <p:attrNameLst>
                                          <p:attrName>ppt_x</p:attrName>
                                        </p:attrNameLst>
                                      </p:cBhvr>
                                      <p:tavLst>
                                        <p:tav tm="0">
                                          <p:val>
                                            <p:strVal val="#ppt_x"/>
                                          </p:val>
                                        </p:tav>
                                        <p:tav tm="100000">
                                          <p:val>
                                            <p:strVal val="#ppt_x"/>
                                          </p:val>
                                        </p:tav>
                                      </p:tavLst>
                                    </p:anim>
                                    <p:anim calcmode="lin" valueType="num">
                                      <p:cBhvr additive="base">
                                        <p:cTn id="3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down)">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blinds(horizontal)">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ppt_x"/>
                                          </p:val>
                                        </p:tav>
                                        <p:tav tm="100000">
                                          <p:val>
                                            <p:strVal val="#ppt_x"/>
                                          </p:val>
                                        </p:tav>
                                      </p:tavLst>
                                    </p:anim>
                                    <p:anim calcmode="lin" valueType="num">
                                      <p:cBhvr additive="base">
                                        <p:cTn id="5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down)">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ppt_x"/>
                                          </p:val>
                                        </p:tav>
                                        <p:tav tm="100000">
                                          <p:val>
                                            <p:strVal val="#ppt_x"/>
                                          </p:val>
                                        </p:tav>
                                      </p:tavLst>
                                    </p:anim>
                                    <p:anim calcmode="lin" valueType="num">
                                      <p:cBhvr additive="base">
                                        <p:cTn id="6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down)">
                                      <p:cBhvr>
                                        <p:cTn id="6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9" grpId="0" animBg="1"/>
      <p:bldP spid="20" grpId="0" animBg="1"/>
      <p:bldP spid="21" grpId="0" animBg="1"/>
      <p:bldP spid="9"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DF8A6BD1-DAAD-1365-84F0-E5B06E5290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A5707CA-D85B-90B5-A78D-6BD664E9BD73}"/>
              </a:ext>
            </a:extLst>
          </p:cNvPr>
          <p:cNvSpPr txBox="1"/>
          <p:nvPr/>
        </p:nvSpPr>
        <p:spPr>
          <a:xfrm>
            <a:off x="6387950" y="586527"/>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Project Objective</a:t>
            </a:r>
          </a:p>
        </p:txBody>
      </p:sp>
      <p:sp>
        <p:nvSpPr>
          <p:cNvPr id="3" name="TextBox 2">
            <a:extLst>
              <a:ext uri="{FF2B5EF4-FFF2-40B4-BE49-F238E27FC236}">
                <a16:creationId xmlns:a16="http://schemas.microsoft.com/office/drawing/2014/main" id="{5F54D4A5-D8E1-0B50-17B5-9CF9F4F36807}"/>
              </a:ext>
            </a:extLst>
          </p:cNvPr>
          <p:cNvSpPr txBox="1"/>
          <p:nvPr/>
        </p:nvSpPr>
        <p:spPr>
          <a:xfrm>
            <a:off x="1348918" y="2171700"/>
            <a:ext cx="9153832" cy="4493538"/>
          </a:xfrm>
          <a:prstGeom prst="rect">
            <a:avLst/>
          </a:prstGeom>
          <a:noFill/>
        </p:spPr>
        <p:txBody>
          <a:bodyPr wrap="square">
            <a:spAutoFit/>
          </a:bodyPr>
          <a:lstStyle/>
          <a:p>
            <a:r>
              <a:rPr lang="en-US" sz="3200" b="1" dirty="0">
                <a:solidFill>
                  <a:schemeClr val="tx2"/>
                </a:solidFill>
              </a:rPr>
              <a:t>Analyze sales data to understand</a:t>
            </a:r>
            <a:r>
              <a:rPr lang="en-US" sz="2800" b="1" dirty="0">
                <a:solidFill>
                  <a:schemeClr val="tx2"/>
                </a:solidFill>
              </a:rPr>
              <a:t>:</a:t>
            </a:r>
          </a:p>
          <a:p>
            <a:endParaRPr lang="en-US" sz="2800" b="1" dirty="0">
              <a:solidFill>
                <a:schemeClr val="tx2"/>
              </a:solidFill>
            </a:endParaRPr>
          </a:p>
          <a:p>
            <a:endParaRPr lang="en-US" sz="2800" b="1" dirty="0">
              <a:solidFill>
                <a:schemeClr val="tx2"/>
              </a:solidFill>
            </a:endParaRPr>
          </a:p>
          <a:p>
            <a:endParaRPr lang="en-US" sz="2800" b="1" dirty="0">
              <a:solidFill>
                <a:schemeClr val="tx2"/>
              </a:solidFill>
            </a:endParaRPr>
          </a:p>
          <a:p>
            <a:endParaRPr lang="en-US" sz="2800" b="1" dirty="0">
              <a:solidFill>
                <a:schemeClr val="tx2"/>
              </a:solidFill>
            </a:endParaRPr>
          </a:p>
          <a:p>
            <a:endParaRPr lang="en-US" sz="2800" b="1" dirty="0">
              <a:solidFill>
                <a:schemeClr val="tx2"/>
              </a:solidFill>
            </a:endParaRPr>
          </a:p>
          <a:p>
            <a:r>
              <a:rPr lang="en-US" sz="2400" b="1" dirty="0">
                <a:solidFill>
                  <a:schemeClr val="tx2"/>
                </a:solidFill>
              </a:rPr>
              <a:t>​​</a:t>
            </a:r>
          </a:p>
          <a:p>
            <a:pPr marL="342900" indent="-342900">
              <a:buFont typeface="Arial" panose="020B0604020202020204" pitchFamily="34" charset="0"/>
              <a:buChar char="•"/>
            </a:pPr>
            <a:endParaRPr lang="en-US" sz="2400" b="1" dirty="0">
              <a:solidFill>
                <a:schemeClr val="tx2"/>
              </a:solidFill>
            </a:endParaRPr>
          </a:p>
          <a:p>
            <a:endParaRPr lang="en-US" sz="2400" b="1" dirty="0">
              <a:solidFill>
                <a:schemeClr val="tx2"/>
              </a:solidFill>
            </a:endParaRPr>
          </a:p>
          <a:p>
            <a:endParaRPr lang="en-US" sz="2400" b="1" dirty="0">
              <a:solidFill>
                <a:schemeClr val="tx2"/>
              </a:solidFill>
            </a:endParaRPr>
          </a:p>
          <a:p>
            <a:r>
              <a:rPr lang="en-US" dirty="0"/>
              <a:t>​</a:t>
            </a:r>
            <a:endParaRPr lang="en-US" sz="2400" dirty="0">
              <a:solidFill>
                <a:schemeClr val="tx2"/>
              </a:solidFill>
            </a:endParaRPr>
          </a:p>
        </p:txBody>
      </p:sp>
      <p:sp>
        <p:nvSpPr>
          <p:cNvPr id="4" name="Rectangle: Rounded Corners 3">
            <a:extLst>
              <a:ext uri="{FF2B5EF4-FFF2-40B4-BE49-F238E27FC236}">
                <a16:creationId xmlns:a16="http://schemas.microsoft.com/office/drawing/2014/main" id="{BE3EF997-1EB5-BF49-60F0-FDAE3A22FB2E}"/>
              </a:ext>
            </a:extLst>
          </p:cNvPr>
          <p:cNvSpPr/>
          <p:nvPr/>
        </p:nvSpPr>
        <p:spPr>
          <a:xfrm>
            <a:off x="1130150" y="3806101"/>
            <a:ext cx="50292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2"/>
                </a:solidFill>
              </a:rPr>
              <a:t>Sales and profit distributions across regions</a:t>
            </a:r>
            <a:endParaRPr lang="en-US" sz="2000" dirty="0">
              <a:solidFill>
                <a:schemeClr val="bg2"/>
              </a:solidFill>
            </a:endParaRPr>
          </a:p>
        </p:txBody>
      </p:sp>
      <p:sp>
        <p:nvSpPr>
          <p:cNvPr id="5" name="Rectangle: Rounded Corners 4">
            <a:extLst>
              <a:ext uri="{FF2B5EF4-FFF2-40B4-BE49-F238E27FC236}">
                <a16:creationId xmlns:a16="http://schemas.microsoft.com/office/drawing/2014/main" id="{A0DFDBD7-35EC-4FBC-6BC6-E8A18ECC1CB1}"/>
              </a:ext>
            </a:extLst>
          </p:cNvPr>
          <p:cNvSpPr/>
          <p:nvPr/>
        </p:nvSpPr>
        <p:spPr>
          <a:xfrm>
            <a:off x="12738250" y="3830275"/>
            <a:ext cx="50292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bg2"/>
                </a:solidFill>
              </a:rPr>
              <a:t>Customer purchasing behaviors and patterns</a:t>
            </a:r>
          </a:p>
        </p:txBody>
      </p:sp>
      <p:sp>
        <p:nvSpPr>
          <p:cNvPr id="6" name="Rectangle: Rounded Corners 5">
            <a:extLst>
              <a:ext uri="{FF2B5EF4-FFF2-40B4-BE49-F238E27FC236}">
                <a16:creationId xmlns:a16="http://schemas.microsoft.com/office/drawing/2014/main" id="{0E4CF406-6C7C-90A7-86F3-7EA4C734EA86}"/>
              </a:ext>
            </a:extLst>
          </p:cNvPr>
          <p:cNvSpPr/>
          <p:nvPr/>
        </p:nvSpPr>
        <p:spPr>
          <a:xfrm>
            <a:off x="6705600" y="3832169"/>
            <a:ext cx="54864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bg2"/>
                </a:solidFill>
              </a:rPr>
              <a:t>Most profitable product categories and segments</a:t>
            </a:r>
          </a:p>
        </p:txBody>
      </p:sp>
      <p:sp>
        <p:nvSpPr>
          <p:cNvPr id="2" name="Rectangle: Rounded Corners 1">
            <a:extLst>
              <a:ext uri="{FF2B5EF4-FFF2-40B4-BE49-F238E27FC236}">
                <a16:creationId xmlns:a16="http://schemas.microsoft.com/office/drawing/2014/main" id="{4977F9A4-23E5-8A64-219B-C196BAC230EC}"/>
              </a:ext>
            </a:extLst>
          </p:cNvPr>
          <p:cNvSpPr/>
          <p:nvPr/>
        </p:nvSpPr>
        <p:spPr>
          <a:xfrm>
            <a:off x="5925834" y="8115300"/>
            <a:ext cx="89154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bg2"/>
                </a:solidFill>
              </a:rPr>
              <a:t>Understanding these insights is essential for optimizing inventory management, driving revenue growth, and improving overall business efficiency.</a:t>
            </a:r>
          </a:p>
        </p:txBody>
      </p:sp>
      <p:sp>
        <p:nvSpPr>
          <p:cNvPr id="9" name="مربع نص 8">
            <a:extLst>
              <a:ext uri="{FF2B5EF4-FFF2-40B4-BE49-F238E27FC236}">
                <a16:creationId xmlns:a16="http://schemas.microsoft.com/office/drawing/2014/main" id="{68E95F91-AE02-5C4A-63C1-58DA5C478FC0}"/>
              </a:ext>
            </a:extLst>
          </p:cNvPr>
          <p:cNvSpPr txBox="1"/>
          <p:nvPr/>
        </p:nvSpPr>
        <p:spPr>
          <a:xfrm>
            <a:off x="8521550" y="5941963"/>
            <a:ext cx="3962400" cy="1446550"/>
          </a:xfrm>
          <a:prstGeom prst="rect">
            <a:avLst/>
          </a:prstGeom>
          <a:noFill/>
        </p:spPr>
        <p:txBody>
          <a:bodyPr wrap="square">
            <a:spAutoFit/>
          </a:bodyPr>
          <a:lstStyle/>
          <a:p>
            <a:r>
              <a:rPr lang="en-US" sz="8800" b="1" dirty="0">
                <a:solidFill>
                  <a:schemeClr val="tx2"/>
                </a:solidFill>
                <a:latin typeface="Arial Rounded MT Bold" panose="020F0704030504030204" pitchFamily="34" charset="0"/>
                <a:ea typeface="HGMaruGothicMPRO" panose="020F0600000000000000" pitchFamily="34" charset="-128"/>
                <a:cs typeface="Arial Hebrew Scholar" pitchFamily="2" charset="-79"/>
              </a:rPr>
              <a:t>Why</a:t>
            </a:r>
            <a:r>
              <a:rPr lang="en-US" sz="8800" b="1" dirty="0">
                <a:solidFill>
                  <a:srgbClr val="FF0000"/>
                </a:solidFill>
                <a:latin typeface="Arial Rounded MT Bold" panose="020F0704030504030204" pitchFamily="34" charset="0"/>
                <a:ea typeface="HGMaruGothicMPRO" panose="020F0600000000000000" pitchFamily="34" charset="-128"/>
                <a:cs typeface="Arial Hebrew Scholar" pitchFamily="2" charset="-79"/>
              </a:rPr>
              <a:t>?</a:t>
            </a:r>
          </a:p>
        </p:txBody>
      </p:sp>
      <p:sp>
        <p:nvSpPr>
          <p:cNvPr id="10" name="مربع نص 9">
            <a:extLst>
              <a:ext uri="{FF2B5EF4-FFF2-40B4-BE49-F238E27FC236}">
                <a16:creationId xmlns:a16="http://schemas.microsoft.com/office/drawing/2014/main" id="{5B227CFB-5184-1810-EC19-B66AF1C3A5D1}"/>
              </a:ext>
            </a:extLst>
          </p:cNvPr>
          <p:cNvSpPr txBox="1"/>
          <p:nvPr/>
        </p:nvSpPr>
        <p:spPr>
          <a:xfrm>
            <a:off x="16916400" y="90297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5</a:t>
            </a:r>
          </a:p>
        </p:txBody>
      </p:sp>
    </p:spTree>
    <p:extLst>
      <p:ext uri="{BB962C8B-B14F-4D97-AF65-F5344CB8AC3E}">
        <p14:creationId xmlns:p14="http://schemas.microsoft.com/office/powerpoint/2010/main" val="1427363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1000"/>
                                        <p:tgtEl>
                                          <p:spTgt spid="3">
                                            <p:txEl>
                                              <p:pRg st="6" end="6"/>
                                            </p:txEl>
                                          </p:spTgt>
                                        </p:tgtEl>
                                      </p:cBhvr>
                                    </p:animEffect>
                                    <p:anim calcmode="lin" valueType="num">
                                      <p:cBhvr>
                                        <p:cTn id="1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animEffect transition="in" filter="fade">
                                      <p:cBhvr>
                                        <p:cTn id="17" dur="1000"/>
                                        <p:tgtEl>
                                          <p:spTgt spid="3">
                                            <p:txEl>
                                              <p:pRg st="10" end="10"/>
                                            </p:txEl>
                                          </p:spTgt>
                                        </p:tgtEl>
                                      </p:cBhvr>
                                    </p:animEffect>
                                    <p:anim calcmode="lin" valueType="num">
                                      <p:cBhvr>
                                        <p:cTn id="1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500"/>
                                        <p:tgtEl>
                                          <p:spTgt spid="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animBg="1"/>
      <p:bldP spid="5" grpId="0" animBg="1"/>
      <p:bldP spid="6" grpId="0" animBg="1"/>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060679FE-5A56-4F75-2F18-EDDB87CA95D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D87F3F8-8BC4-A3CD-9409-C8B85B7B86FD}"/>
              </a:ext>
            </a:extLst>
          </p:cNvPr>
          <p:cNvSpPr txBox="1"/>
          <p:nvPr/>
        </p:nvSpPr>
        <p:spPr>
          <a:xfrm>
            <a:off x="5562600" y="1185699"/>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Dataset Summary</a:t>
            </a:r>
          </a:p>
        </p:txBody>
      </p:sp>
      <p:sp useBgFill="1">
        <p:nvSpPr>
          <p:cNvPr id="12" name="Rectangle: Rounded Corners 11">
            <a:extLst>
              <a:ext uri="{FF2B5EF4-FFF2-40B4-BE49-F238E27FC236}">
                <a16:creationId xmlns:a16="http://schemas.microsoft.com/office/drawing/2014/main" id="{7AE8E23F-2D20-265C-7951-2EAA6BDF2309}"/>
              </a:ext>
            </a:extLst>
          </p:cNvPr>
          <p:cNvSpPr/>
          <p:nvPr/>
        </p:nvSpPr>
        <p:spPr>
          <a:xfrm>
            <a:off x="4114800" y="2324100"/>
            <a:ext cx="19050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Sheets</a:t>
            </a:r>
          </a:p>
        </p:txBody>
      </p:sp>
      <p:sp useBgFill="1">
        <p:nvSpPr>
          <p:cNvPr id="13" name="Rectangle: Rounded Corners 12">
            <a:extLst>
              <a:ext uri="{FF2B5EF4-FFF2-40B4-BE49-F238E27FC236}">
                <a16:creationId xmlns:a16="http://schemas.microsoft.com/office/drawing/2014/main" id="{24984F2A-D81D-7703-AB1E-B311AF7E9CE6}"/>
              </a:ext>
            </a:extLst>
          </p:cNvPr>
          <p:cNvSpPr/>
          <p:nvPr/>
        </p:nvSpPr>
        <p:spPr>
          <a:xfrm>
            <a:off x="10529755" y="2324100"/>
            <a:ext cx="3224344"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2"/>
                </a:solidFill>
              </a:rPr>
              <a:t>Calculated Columns</a:t>
            </a:r>
          </a:p>
        </p:txBody>
      </p:sp>
      <p:sp>
        <p:nvSpPr>
          <p:cNvPr id="14" name="Rectangle: Rounded Corners 13">
            <a:extLst>
              <a:ext uri="{FF2B5EF4-FFF2-40B4-BE49-F238E27FC236}">
                <a16:creationId xmlns:a16="http://schemas.microsoft.com/office/drawing/2014/main" id="{1422AEA6-514A-7521-E72F-E6EB8E127278}"/>
              </a:ext>
            </a:extLst>
          </p:cNvPr>
          <p:cNvSpPr/>
          <p:nvPr/>
        </p:nvSpPr>
        <p:spPr>
          <a:xfrm>
            <a:off x="10770327" y="3238500"/>
            <a:ext cx="2743200" cy="51287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lnSpc>
                <a:spcPct val="200000"/>
              </a:lnSpc>
              <a:buFont typeface="Arial" panose="020B0604020202020204" pitchFamily="34" charset="0"/>
              <a:buChar char="•"/>
            </a:pPr>
            <a:r>
              <a:rPr lang="en-US" sz="2400" b="1" dirty="0">
                <a:solidFill>
                  <a:schemeClr val="bg2"/>
                </a:solidFill>
              </a:rPr>
              <a:t>Profit Margin</a:t>
            </a:r>
          </a:p>
          <a:p>
            <a:pPr marL="285750" indent="-285750" algn="just">
              <a:lnSpc>
                <a:spcPct val="200000"/>
              </a:lnSpc>
              <a:buFont typeface="Arial" panose="020B0604020202020204" pitchFamily="34" charset="0"/>
              <a:buChar char="•"/>
            </a:pPr>
            <a:r>
              <a:rPr lang="en-US" sz="2400" b="1" dirty="0">
                <a:solidFill>
                  <a:schemeClr val="bg2"/>
                </a:solidFill>
              </a:rPr>
              <a:t>Cost</a:t>
            </a:r>
          </a:p>
          <a:p>
            <a:pPr marL="285750" indent="-285750" algn="just">
              <a:lnSpc>
                <a:spcPct val="200000"/>
              </a:lnSpc>
              <a:buFont typeface="Arial" panose="020B0604020202020204" pitchFamily="34" charset="0"/>
              <a:buChar char="•"/>
            </a:pPr>
            <a:r>
              <a:rPr lang="en-US" sz="2400" b="1" dirty="0">
                <a:solidFill>
                  <a:schemeClr val="bg2"/>
                </a:solidFill>
              </a:rPr>
              <a:t>Shipping Days</a:t>
            </a:r>
          </a:p>
          <a:p>
            <a:pPr marL="285750" indent="-285750" algn="ctr">
              <a:lnSpc>
                <a:spcPct val="200000"/>
              </a:lnSpc>
              <a:buFont typeface="Arial" panose="020B0604020202020204" pitchFamily="34" charset="0"/>
              <a:buChar char="•"/>
            </a:pPr>
            <a:endParaRPr lang="en-US" dirty="0"/>
          </a:p>
        </p:txBody>
      </p:sp>
      <p:sp>
        <p:nvSpPr>
          <p:cNvPr id="15" name="Rectangle: Rounded Corners 14">
            <a:extLst>
              <a:ext uri="{FF2B5EF4-FFF2-40B4-BE49-F238E27FC236}">
                <a16:creationId xmlns:a16="http://schemas.microsoft.com/office/drawing/2014/main" id="{5B933813-7F00-9A41-A28F-BAC1D3445545}"/>
              </a:ext>
            </a:extLst>
          </p:cNvPr>
          <p:cNvSpPr/>
          <p:nvPr/>
        </p:nvSpPr>
        <p:spPr>
          <a:xfrm>
            <a:off x="2876550" y="3238500"/>
            <a:ext cx="4381500" cy="5181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2400" b="1" dirty="0">
              <a:solidFill>
                <a:schemeClr val="bg2"/>
              </a:solidFill>
            </a:endParaRPr>
          </a:p>
          <a:p>
            <a:pPr algn="just"/>
            <a:endParaRPr lang="ar-EG" sz="2000" b="1" dirty="0">
              <a:solidFill>
                <a:schemeClr val="bg1">
                  <a:lumMod val="95000"/>
                </a:schemeClr>
              </a:solidFill>
            </a:endParaRPr>
          </a:p>
          <a:p>
            <a:pPr algn="just"/>
            <a:endParaRPr lang="ar-EG" sz="2000" b="1" dirty="0">
              <a:solidFill>
                <a:schemeClr val="bg1">
                  <a:lumMod val="95000"/>
                </a:schemeClr>
              </a:solidFill>
            </a:endParaRPr>
          </a:p>
          <a:p>
            <a:pPr algn="just"/>
            <a:r>
              <a:rPr lang="ar-EG" sz="2400" b="1" dirty="0">
                <a:solidFill>
                  <a:schemeClr val="bg1">
                    <a:lumMod val="95000"/>
                  </a:schemeClr>
                </a:solidFill>
              </a:rPr>
              <a:t>From One Sheet to Six Related Tables</a:t>
            </a:r>
            <a:r>
              <a:rPr lang="en-US" sz="2400" b="1" dirty="0">
                <a:solidFill>
                  <a:schemeClr val="bg1">
                    <a:lumMod val="95000"/>
                  </a:schemeClr>
                </a:solidFill>
              </a:rPr>
              <a:t> </a:t>
            </a:r>
            <a:endParaRPr lang="en-US" sz="2400" b="1" dirty="0">
              <a:solidFill>
                <a:schemeClr val="bg1">
                  <a:lumMod val="85000"/>
                </a:schemeClr>
              </a:solidFill>
            </a:endParaRPr>
          </a:p>
          <a:p>
            <a:pPr marL="342900" indent="-342900" algn="just">
              <a:lnSpc>
                <a:spcPct val="200000"/>
              </a:lnSpc>
              <a:buFont typeface="Arial" panose="020B0604020202020204" pitchFamily="34" charset="0"/>
              <a:buChar char="•"/>
            </a:pPr>
            <a:r>
              <a:rPr lang="en-US" sz="2000" b="1" dirty="0">
                <a:solidFill>
                  <a:schemeClr val="bg2"/>
                </a:solidFill>
              </a:rPr>
              <a:t>Customers</a:t>
            </a:r>
          </a:p>
          <a:p>
            <a:pPr marL="342900" indent="-342900" algn="just">
              <a:lnSpc>
                <a:spcPct val="200000"/>
              </a:lnSpc>
              <a:buFont typeface="Arial" panose="020B0604020202020204" pitchFamily="34" charset="0"/>
              <a:buChar char="•"/>
            </a:pPr>
            <a:r>
              <a:rPr lang="en-US" sz="2000" b="1" dirty="0">
                <a:solidFill>
                  <a:schemeClr val="bg2"/>
                </a:solidFill>
              </a:rPr>
              <a:t>Products</a:t>
            </a:r>
          </a:p>
          <a:p>
            <a:pPr marL="342900" indent="-342900" algn="just">
              <a:lnSpc>
                <a:spcPct val="200000"/>
              </a:lnSpc>
              <a:buFont typeface="Arial" panose="020B0604020202020204" pitchFamily="34" charset="0"/>
              <a:buChar char="•"/>
            </a:pPr>
            <a:r>
              <a:rPr lang="en-US" sz="2000" b="1" dirty="0">
                <a:solidFill>
                  <a:schemeClr val="bg2"/>
                </a:solidFill>
              </a:rPr>
              <a:t>Locations</a:t>
            </a:r>
          </a:p>
          <a:p>
            <a:pPr marL="342900" indent="-342900" algn="just">
              <a:lnSpc>
                <a:spcPct val="200000"/>
              </a:lnSpc>
              <a:buFont typeface="Arial" panose="020B0604020202020204" pitchFamily="34" charset="0"/>
              <a:buChar char="•"/>
            </a:pPr>
            <a:r>
              <a:rPr lang="en-US" sz="2000" b="1" dirty="0">
                <a:solidFill>
                  <a:schemeClr val="bg2"/>
                </a:solidFill>
              </a:rPr>
              <a:t>Orders</a:t>
            </a:r>
          </a:p>
          <a:p>
            <a:pPr marL="342900" indent="-342900" algn="just">
              <a:lnSpc>
                <a:spcPct val="200000"/>
              </a:lnSpc>
              <a:buFont typeface="Arial" panose="020B0604020202020204" pitchFamily="34" charset="0"/>
              <a:buChar char="•"/>
            </a:pPr>
            <a:r>
              <a:rPr lang="en-US" sz="2000" b="1" dirty="0">
                <a:solidFill>
                  <a:schemeClr val="bg2"/>
                </a:solidFill>
              </a:rPr>
              <a:t>Order Details</a:t>
            </a:r>
          </a:p>
          <a:p>
            <a:pPr marL="342900" indent="-342900" algn="just">
              <a:buFont typeface="Arial" panose="020B0604020202020204" pitchFamily="34" charset="0"/>
              <a:buChar char="•"/>
            </a:pPr>
            <a:endParaRPr lang="en-US" sz="2000" b="1" dirty="0">
              <a:solidFill>
                <a:schemeClr val="bg2"/>
              </a:solidFill>
            </a:endParaRPr>
          </a:p>
          <a:p>
            <a:pPr algn="just"/>
            <a:endParaRPr lang="en-US" sz="2000" b="1" dirty="0">
              <a:solidFill>
                <a:schemeClr val="bg2"/>
              </a:solidFill>
            </a:endParaRPr>
          </a:p>
          <a:p>
            <a:pPr marL="342900" indent="-342900" algn="just">
              <a:buFont typeface="Arial" panose="020B0604020202020204" pitchFamily="34" charset="0"/>
              <a:buChar char="•"/>
            </a:pPr>
            <a:endParaRPr lang="en-US" sz="2000" b="1" dirty="0">
              <a:solidFill>
                <a:schemeClr val="bg2"/>
              </a:solidFill>
            </a:endParaRPr>
          </a:p>
        </p:txBody>
      </p:sp>
      <p:sp>
        <p:nvSpPr>
          <p:cNvPr id="3" name="مربع نص 2">
            <a:extLst>
              <a:ext uri="{FF2B5EF4-FFF2-40B4-BE49-F238E27FC236}">
                <a16:creationId xmlns:a16="http://schemas.microsoft.com/office/drawing/2014/main" id="{4C7301CD-4E15-AD2B-47AE-978F96D3A8C7}"/>
              </a:ext>
            </a:extLst>
          </p:cNvPr>
          <p:cNvSpPr txBox="1"/>
          <p:nvPr/>
        </p:nvSpPr>
        <p:spPr>
          <a:xfrm>
            <a:off x="16992600" y="91059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6</a:t>
            </a:r>
          </a:p>
        </p:txBody>
      </p:sp>
    </p:spTree>
    <p:extLst>
      <p:ext uri="{BB962C8B-B14F-4D97-AF65-F5344CB8AC3E}">
        <p14:creationId xmlns:p14="http://schemas.microsoft.com/office/powerpoint/2010/main" val="2105880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5E80945E-38C3-508B-8D6E-08FD9C2C5DE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A5B4F36-F34B-450E-B8C2-3A84794C670C}"/>
              </a:ext>
            </a:extLst>
          </p:cNvPr>
          <p:cNvSpPr txBox="1"/>
          <p:nvPr/>
        </p:nvSpPr>
        <p:spPr>
          <a:xfrm>
            <a:off x="7010400" y="1638300"/>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Why?</a:t>
            </a:r>
          </a:p>
        </p:txBody>
      </p:sp>
      <p:sp>
        <p:nvSpPr>
          <p:cNvPr id="4" name="TextBox 3">
            <a:extLst>
              <a:ext uri="{FF2B5EF4-FFF2-40B4-BE49-F238E27FC236}">
                <a16:creationId xmlns:a16="http://schemas.microsoft.com/office/drawing/2014/main" id="{C3A606EA-49DB-EEE4-9567-AE0DA937886F}"/>
              </a:ext>
            </a:extLst>
          </p:cNvPr>
          <p:cNvSpPr txBox="1"/>
          <p:nvPr/>
        </p:nvSpPr>
        <p:spPr>
          <a:xfrm>
            <a:off x="-1600200" y="-65575"/>
            <a:ext cx="7848600" cy="1304203"/>
          </a:xfrm>
          <a:prstGeom prst="rect">
            <a:avLst/>
          </a:prstGeom>
          <a:noFill/>
        </p:spPr>
        <p:txBody>
          <a:bodyPr wrap="square">
            <a:spAutoFit/>
          </a:bodyPr>
          <a:lstStyle/>
          <a:p>
            <a:pPr algn="r">
              <a:lnSpc>
                <a:spcPts val="10159"/>
              </a:lnSpc>
            </a:pPr>
            <a:r>
              <a:rPr lang="en-US" sz="6000" b="1" dirty="0">
                <a:solidFill>
                  <a:srgbClr val="002060"/>
                </a:solidFill>
                <a:highlight>
                  <a:srgbClr val="C0C0C0"/>
                </a:highlight>
                <a:latin typeface="League Spartan"/>
                <a:ea typeface="League Spartan"/>
                <a:cs typeface="League Spartan"/>
                <a:sym typeface="League Spartan"/>
              </a:rPr>
              <a:t>Data Cleaning</a:t>
            </a:r>
          </a:p>
        </p:txBody>
      </p:sp>
      <p:sp>
        <p:nvSpPr>
          <p:cNvPr id="6" name="TextBox 5">
            <a:extLst>
              <a:ext uri="{FF2B5EF4-FFF2-40B4-BE49-F238E27FC236}">
                <a16:creationId xmlns:a16="http://schemas.microsoft.com/office/drawing/2014/main" id="{DCC12243-77EC-50A7-5276-4C34E97BD334}"/>
              </a:ext>
            </a:extLst>
          </p:cNvPr>
          <p:cNvSpPr txBox="1"/>
          <p:nvPr/>
        </p:nvSpPr>
        <p:spPr>
          <a:xfrm>
            <a:off x="533400" y="3009901"/>
            <a:ext cx="17602200" cy="5172122"/>
          </a:xfrm>
          <a:prstGeom prst="rect">
            <a:avLst/>
          </a:prstGeom>
          <a:noFill/>
        </p:spPr>
        <p:txBody>
          <a:bodyPr wrap="square">
            <a:spAutoFit/>
          </a:bodyPr>
          <a:lstStyle/>
          <a:p>
            <a:pPr marL="388624" lvl="1">
              <a:lnSpc>
                <a:spcPts val="5040"/>
              </a:lnSpc>
            </a:pPr>
            <a:r>
              <a:rPr lang="en-US" sz="3600" b="1" dirty="0">
                <a:solidFill>
                  <a:srgbClr val="1B3A62"/>
                </a:solidFill>
                <a:latin typeface="Inter Bold"/>
                <a:ea typeface="Inter Bold"/>
                <a:cs typeface="Inter Bold"/>
                <a:sym typeface="Inter Bold"/>
              </a:rPr>
              <a:t>The data cleaning process was performed to ensure the dataset was accurate, consistent, and ready for analysis. I checked for missing values, verified data types, and removed any exact duplicate records. I also investigated duplicate IDs to maintain data integrity. Since the Superstore dataset contains multiple products within the same order, repeated Order IDs were expected and considered valid rather than errors. Data formatting was standardized, and the dataset was reviewed for inconsistencies to ensure reliable analysis and accurate dashboard results.</a:t>
            </a:r>
          </a:p>
        </p:txBody>
      </p:sp>
      <p:sp>
        <p:nvSpPr>
          <p:cNvPr id="3" name="مربع نص 2">
            <a:extLst>
              <a:ext uri="{FF2B5EF4-FFF2-40B4-BE49-F238E27FC236}">
                <a16:creationId xmlns:a16="http://schemas.microsoft.com/office/drawing/2014/main" id="{300127A3-5B3E-8882-5B88-3CA485B8500B}"/>
              </a:ext>
            </a:extLst>
          </p:cNvPr>
          <p:cNvSpPr txBox="1"/>
          <p:nvPr/>
        </p:nvSpPr>
        <p:spPr>
          <a:xfrm>
            <a:off x="17297400" y="9105900"/>
            <a:ext cx="1000125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7</a:t>
            </a:r>
          </a:p>
        </p:txBody>
      </p:sp>
    </p:spTree>
    <p:extLst>
      <p:ext uri="{BB962C8B-B14F-4D97-AF65-F5344CB8AC3E}">
        <p14:creationId xmlns:p14="http://schemas.microsoft.com/office/powerpoint/2010/main" val="600287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6513A970-7167-1D1C-64AE-077A0A08F33F}"/>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4A841848-0028-C12F-2AA0-736F1A8916FC}"/>
              </a:ext>
            </a:extLst>
          </p:cNvPr>
          <p:cNvGrpSpPr/>
          <p:nvPr/>
        </p:nvGrpSpPr>
        <p:grpSpPr>
          <a:xfrm>
            <a:off x="13859118" y="4508822"/>
            <a:ext cx="2679564" cy="2007969"/>
            <a:chOff x="794439" y="1823656"/>
            <a:chExt cx="2679564" cy="2007969"/>
          </a:xfrm>
        </p:grpSpPr>
        <p:sp useBgFill="1">
          <p:nvSpPr>
            <p:cNvPr id="33" name="Rectangle: Rounded Corners 32">
              <a:extLst>
                <a:ext uri="{FF2B5EF4-FFF2-40B4-BE49-F238E27FC236}">
                  <a16:creationId xmlns:a16="http://schemas.microsoft.com/office/drawing/2014/main" id="{7E101CC0-AC94-9974-0346-6017438B8554}"/>
                </a:ext>
              </a:extLst>
            </p:cNvPr>
            <p:cNvSpPr/>
            <p:nvPr/>
          </p:nvSpPr>
          <p:spPr>
            <a:xfrm>
              <a:off x="1149903" y="2345725"/>
              <a:ext cx="2324100" cy="14859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2"/>
                  </a:solidFill>
                </a:rPr>
                <a:t>Removing Duplicates</a:t>
              </a:r>
            </a:p>
          </p:txBody>
        </p:sp>
        <p:sp>
          <p:nvSpPr>
            <p:cNvPr id="34" name="Flowchart: Connector 33">
              <a:extLst>
                <a:ext uri="{FF2B5EF4-FFF2-40B4-BE49-F238E27FC236}">
                  <a16:creationId xmlns:a16="http://schemas.microsoft.com/office/drawing/2014/main" id="{B3125F38-9530-6223-0F2C-C594427F9962}"/>
                </a:ext>
              </a:extLst>
            </p:cNvPr>
            <p:cNvSpPr/>
            <p:nvPr/>
          </p:nvSpPr>
          <p:spPr>
            <a:xfrm>
              <a:off x="794439" y="1823656"/>
              <a:ext cx="1449971" cy="9906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2"/>
                  </a:solidFill>
                </a:rPr>
                <a:t>Step 4</a:t>
              </a:r>
            </a:p>
          </p:txBody>
        </p:sp>
      </p:grpSp>
      <p:sp>
        <p:nvSpPr>
          <p:cNvPr id="8" name="TextBox 7">
            <a:extLst>
              <a:ext uri="{FF2B5EF4-FFF2-40B4-BE49-F238E27FC236}">
                <a16:creationId xmlns:a16="http://schemas.microsoft.com/office/drawing/2014/main" id="{A9108DF5-8DE2-257B-C38B-BDAE2A19878E}"/>
              </a:ext>
            </a:extLst>
          </p:cNvPr>
          <p:cNvSpPr txBox="1"/>
          <p:nvPr/>
        </p:nvSpPr>
        <p:spPr>
          <a:xfrm>
            <a:off x="5993528" y="1638300"/>
            <a:ext cx="10017888" cy="1374735"/>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Steps of Cleaning</a:t>
            </a:r>
          </a:p>
          <a:p>
            <a:pPr marL="388624" lvl="1">
              <a:lnSpc>
                <a:spcPts val="5040"/>
              </a:lnSpc>
            </a:pPr>
            <a:endParaRPr lang="en-US" sz="4400" b="1" dirty="0">
              <a:solidFill>
                <a:srgbClr val="1B3A62"/>
              </a:solidFill>
              <a:latin typeface="Inter Bold"/>
              <a:ea typeface="Inter Bold"/>
              <a:cs typeface="Inter Bold"/>
              <a:sym typeface="Inter Bold"/>
            </a:endParaRPr>
          </a:p>
        </p:txBody>
      </p:sp>
      <p:sp>
        <p:nvSpPr>
          <p:cNvPr id="28" name="TextBox 27">
            <a:extLst>
              <a:ext uri="{FF2B5EF4-FFF2-40B4-BE49-F238E27FC236}">
                <a16:creationId xmlns:a16="http://schemas.microsoft.com/office/drawing/2014/main" id="{3318D2A7-6866-4481-C67A-8E3D948012E1}"/>
              </a:ext>
            </a:extLst>
          </p:cNvPr>
          <p:cNvSpPr txBox="1"/>
          <p:nvPr/>
        </p:nvSpPr>
        <p:spPr>
          <a:xfrm>
            <a:off x="3089100" y="4500973"/>
            <a:ext cx="184731" cy="523220"/>
          </a:xfrm>
          <a:prstGeom prst="rect">
            <a:avLst/>
          </a:prstGeom>
          <a:noFill/>
        </p:spPr>
        <p:txBody>
          <a:bodyPr wrap="none" rtlCol="0">
            <a:spAutoFit/>
          </a:bodyPr>
          <a:lstStyle/>
          <a:p>
            <a:endParaRPr lang="en-US" sz="2800" b="1" dirty="0">
              <a:solidFill>
                <a:schemeClr val="tx2"/>
              </a:solidFill>
            </a:endParaRPr>
          </a:p>
        </p:txBody>
      </p:sp>
      <p:grpSp>
        <p:nvGrpSpPr>
          <p:cNvPr id="60" name="Group 59">
            <a:extLst>
              <a:ext uri="{FF2B5EF4-FFF2-40B4-BE49-F238E27FC236}">
                <a16:creationId xmlns:a16="http://schemas.microsoft.com/office/drawing/2014/main" id="{38E3245E-C605-A230-7372-FE8579B654B9}"/>
              </a:ext>
            </a:extLst>
          </p:cNvPr>
          <p:cNvGrpSpPr/>
          <p:nvPr/>
        </p:nvGrpSpPr>
        <p:grpSpPr>
          <a:xfrm>
            <a:off x="990600" y="4500973"/>
            <a:ext cx="2679564" cy="2007969"/>
            <a:chOff x="563612" y="1981747"/>
            <a:chExt cx="2679564" cy="2007969"/>
          </a:xfrm>
        </p:grpSpPr>
        <p:grpSp>
          <p:nvGrpSpPr>
            <p:cNvPr id="3" name="Group 2">
              <a:extLst>
                <a:ext uri="{FF2B5EF4-FFF2-40B4-BE49-F238E27FC236}">
                  <a16:creationId xmlns:a16="http://schemas.microsoft.com/office/drawing/2014/main" id="{EBB88233-35C4-50F4-6711-CBB04252CFED}"/>
                </a:ext>
              </a:extLst>
            </p:cNvPr>
            <p:cNvGrpSpPr/>
            <p:nvPr/>
          </p:nvGrpSpPr>
          <p:grpSpPr>
            <a:xfrm>
              <a:off x="563612" y="1981747"/>
              <a:ext cx="2679564" cy="2007969"/>
              <a:chOff x="794439" y="1823656"/>
              <a:chExt cx="2679564" cy="2007969"/>
            </a:xfrm>
          </p:grpSpPr>
          <p:sp useBgFill="1">
            <p:nvSpPr>
              <p:cNvPr id="11" name="Rectangle: Rounded Corners 10">
                <a:extLst>
                  <a:ext uri="{FF2B5EF4-FFF2-40B4-BE49-F238E27FC236}">
                    <a16:creationId xmlns:a16="http://schemas.microsoft.com/office/drawing/2014/main" id="{84A5B7EF-4822-492B-D2E4-216C8B430340}"/>
                  </a:ext>
                </a:extLst>
              </p:cNvPr>
              <p:cNvSpPr/>
              <p:nvPr/>
            </p:nvSpPr>
            <p:spPr>
              <a:xfrm>
                <a:off x="1149903" y="2345725"/>
                <a:ext cx="2324100" cy="14859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2"/>
                    </a:solidFill>
                  </a:rPr>
                  <a:t>Data Normalization</a:t>
                </a:r>
              </a:p>
            </p:txBody>
          </p:sp>
          <p:sp>
            <p:nvSpPr>
              <p:cNvPr id="37" name="Flowchart: Connector 36">
                <a:extLst>
                  <a:ext uri="{FF2B5EF4-FFF2-40B4-BE49-F238E27FC236}">
                    <a16:creationId xmlns:a16="http://schemas.microsoft.com/office/drawing/2014/main" id="{49DEFB76-3622-A445-1A23-A901388BE742}"/>
                  </a:ext>
                </a:extLst>
              </p:cNvPr>
              <p:cNvSpPr/>
              <p:nvPr/>
            </p:nvSpPr>
            <p:spPr>
              <a:xfrm>
                <a:off x="794439" y="1823656"/>
                <a:ext cx="1449971" cy="9906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056FA5EF-0118-2E45-8F6B-63D3AD13F850}"/>
                </a:ext>
              </a:extLst>
            </p:cNvPr>
            <p:cNvSpPr txBox="1"/>
            <p:nvPr/>
          </p:nvSpPr>
          <p:spPr>
            <a:xfrm>
              <a:off x="583719" y="2259014"/>
              <a:ext cx="1449971" cy="461665"/>
            </a:xfrm>
            <a:prstGeom prst="rect">
              <a:avLst/>
            </a:prstGeom>
            <a:noFill/>
          </p:spPr>
          <p:txBody>
            <a:bodyPr wrap="square">
              <a:spAutoFit/>
            </a:bodyPr>
            <a:lstStyle/>
            <a:p>
              <a:pPr algn="ctr"/>
              <a:r>
                <a:rPr lang="en-US" sz="2400" b="1" dirty="0">
                  <a:solidFill>
                    <a:schemeClr val="tx2"/>
                  </a:solidFill>
                </a:rPr>
                <a:t>Step 1</a:t>
              </a:r>
            </a:p>
          </p:txBody>
        </p:sp>
      </p:grpSp>
      <p:grpSp>
        <p:nvGrpSpPr>
          <p:cNvPr id="59" name="Group 58">
            <a:extLst>
              <a:ext uri="{FF2B5EF4-FFF2-40B4-BE49-F238E27FC236}">
                <a16:creationId xmlns:a16="http://schemas.microsoft.com/office/drawing/2014/main" id="{8DB18CC5-A852-5673-F0C3-622757E026D7}"/>
              </a:ext>
            </a:extLst>
          </p:cNvPr>
          <p:cNvGrpSpPr/>
          <p:nvPr/>
        </p:nvGrpSpPr>
        <p:grpSpPr>
          <a:xfrm>
            <a:off x="1537528" y="4487588"/>
            <a:ext cx="9144000" cy="2007969"/>
            <a:chOff x="-319930" y="1968362"/>
            <a:chExt cx="9144000" cy="2007969"/>
          </a:xfrm>
        </p:grpSpPr>
        <p:grpSp>
          <p:nvGrpSpPr>
            <p:cNvPr id="18" name="Group 17">
              <a:extLst>
                <a:ext uri="{FF2B5EF4-FFF2-40B4-BE49-F238E27FC236}">
                  <a16:creationId xmlns:a16="http://schemas.microsoft.com/office/drawing/2014/main" id="{E3436F8C-32D9-CB52-4DE1-87173033456E}"/>
                </a:ext>
              </a:extLst>
            </p:cNvPr>
            <p:cNvGrpSpPr/>
            <p:nvPr/>
          </p:nvGrpSpPr>
          <p:grpSpPr>
            <a:xfrm>
              <a:off x="3598640" y="1968362"/>
              <a:ext cx="2679564" cy="2007969"/>
              <a:chOff x="794439" y="1823656"/>
              <a:chExt cx="2679564" cy="2007969"/>
            </a:xfrm>
          </p:grpSpPr>
          <p:sp useBgFill="1">
            <p:nvSpPr>
              <p:cNvPr id="22" name="Rectangle: Rounded Corners 21">
                <a:extLst>
                  <a:ext uri="{FF2B5EF4-FFF2-40B4-BE49-F238E27FC236}">
                    <a16:creationId xmlns:a16="http://schemas.microsoft.com/office/drawing/2014/main" id="{432C338D-7A14-4D7F-D612-DC2B2A25904D}"/>
                  </a:ext>
                </a:extLst>
              </p:cNvPr>
              <p:cNvSpPr/>
              <p:nvPr/>
            </p:nvSpPr>
            <p:spPr>
              <a:xfrm>
                <a:off x="1149903" y="2345725"/>
                <a:ext cx="2324100" cy="14859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2"/>
                    </a:solidFill>
                  </a:rPr>
                  <a:t>Data Transformation</a:t>
                </a:r>
              </a:p>
            </p:txBody>
          </p:sp>
          <p:sp>
            <p:nvSpPr>
              <p:cNvPr id="27" name="Flowchart: Connector 26">
                <a:extLst>
                  <a:ext uri="{FF2B5EF4-FFF2-40B4-BE49-F238E27FC236}">
                    <a16:creationId xmlns:a16="http://schemas.microsoft.com/office/drawing/2014/main" id="{ABDB722D-BE33-F4B4-95CB-D0322D94D7BA}"/>
                  </a:ext>
                </a:extLst>
              </p:cNvPr>
              <p:cNvSpPr/>
              <p:nvPr/>
            </p:nvSpPr>
            <p:spPr>
              <a:xfrm>
                <a:off x="794439" y="1823656"/>
                <a:ext cx="1449971" cy="9906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a:extLst>
                <a:ext uri="{FF2B5EF4-FFF2-40B4-BE49-F238E27FC236}">
                  <a16:creationId xmlns:a16="http://schemas.microsoft.com/office/drawing/2014/main" id="{7CBA82B5-299F-65B8-7FF7-54EEF916DDFD}"/>
                </a:ext>
              </a:extLst>
            </p:cNvPr>
            <p:cNvSpPr txBox="1"/>
            <p:nvPr/>
          </p:nvSpPr>
          <p:spPr>
            <a:xfrm>
              <a:off x="-319930" y="2219444"/>
              <a:ext cx="9144000" cy="461665"/>
            </a:xfrm>
            <a:prstGeom prst="rect">
              <a:avLst/>
            </a:prstGeom>
            <a:noFill/>
          </p:spPr>
          <p:txBody>
            <a:bodyPr wrap="square">
              <a:spAutoFit/>
            </a:bodyPr>
            <a:lstStyle/>
            <a:p>
              <a:pPr algn="ctr"/>
              <a:r>
                <a:rPr lang="en-US" sz="2400" b="1" dirty="0">
                  <a:solidFill>
                    <a:schemeClr val="tx2"/>
                  </a:solidFill>
                </a:rPr>
                <a:t>Step</a:t>
              </a:r>
              <a:r>
                <a:rPr lang="en-US" b="1" dirty="0">
                  <a:solidFill>
                    <a:schemeClr val="tx2"/>
                  </a:solidFill>
                </a:rPr>
                <a:t> </a:t>
              </a:r>
              <a:r>
                <a:rPr lang="en-US" sz="2400" b="1" dirty="0">
                  <a:solidFill>
                    <a:schemeClr val="tx2"/>
                  </a:solidFill>
                </a:rPr>
                <a:t>2</a:t>
              </a:r>
            </a:p>
          </p:txBody>
        </p:sp>
      </p:grpSp>
      <p:grpSp>
        <p:nvGrpSpPr>
          <p:cNvPr id="67" name="Group 66">
            <a:extLst>
              <a:ext uri="{FF2B5EF4-FFF2-40B4-BE49-F238E27FC236}">
                <a16:creationId xmlns:a16="http://schemas.microsoft.com/office/drawing/2014/main" id="{A826F088-DCC3-72F2-C5E0-C81E4C53618F}"/>
              </a:ext>
            </a:extLst>
          </p:cNvPr>
          <p:cNvGrpSpPr/>
          <p:nvPr/>
        </p:nvGrpSpPr>
        <p:grpSpPr>
          <a:xfrm>
            <a:off x="9787898" y="4500973"/>
            <a:ext cx="2679564" cy="2007969"/>
            <a:chOff x="9401249" y="3389106"/>
            <a:chExt cx="2679564" cy="2007969"/>
          </a:xfrm>
        </p:grpSpPr>
        <p:grpSp>
          <p:nvGrpSpPr>
            <p:cNvPr id="65" name="Group 64">
              <a:extLst>
                <a:ext uri="{FF2B5EF4-FFF2-40B4-BE49-F238E27FC236}">
                  <a16:creationId xmlns:a16="http://schemas.microsoft.com/office/drawing/2014/main" id="{3ADD1734-D5D8-9939-C090-E4E3C8CFC2E7}"/>
                </a:ext>
              </a:extLst>
            </p:cNvPr>
            <p:cNvGrpSpPr/>
            <p:nvPr/>
          </p:nvGrpSpPr>
          <p:grpSpPr>
            <a:xfrm>
              <a:off x="9401249" y="3389106"/>
              <a:ext cx="2679564" cy="2007969"/>
              <a:chOff x="9401249" y="3389106"/>
              <a:chExt cx="2679564" cy="2007969"/>
            </a:xfrm>
          </p:grpSpPr>
          <p:sp useBgFill="1">
            <p:nvSpPr>
              <p:cNvPr id="30" name="Rectangle: Rounded Corners 29">
                <a:extLst>
                  <a:ext uri="{FF2B5EF4-FFF2-40B4-BE49-F238E27FC236}">
                    <a16:creationId xmlns:a16="http://schemas.microsoft.com/office/drawing/2014/main" id="{65936CEE-F427-C243-BD08-92B0F381B2FB}"/>
                  </a:ext>
                </a:extLst>
              </p:cNvPr>
              <p:cNvSpPr/>
              <p:nvPr/>
            </p:nvSpPr>
            <p:spPr>
              <a:xfrm>
                <a:off x="9756713" y="3911175"/>
                <a:ext cx="2324100" cy="1485900"/>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2"/>
                    </a:solidFill>
                  </a:rPr>
                  <a:t>Handling Missig Values</a:t>
                </a:r>
              </a:p>
            </p:txBody>
          </p:sp>
          <p:sp>
            <p:nvSpPr>
              <p:cNvPr id="31" name="Flowchart: Connector 30">
                <a:extLst>
                  <a:ext uri="{FF2B5EF4-FFF2-40B4-BE49-F238E27FC236}">
                    <a16:creationId xmlns:a16="http://schemas.microsoft.com/office/drawing/2014/main" id="{402051CC-02A9-EDA7-F4DF-EC1B43ADE266}"/>
                  </a:ext>
                </a:extLst>
              </p:cNvPr>
              <p:cNvSpPr/>
              <p:nvPr/>
            </p:nvSpPr>
            <p:spPr>
              <a:xfrm>
                <a:off x="9401249" y="3389106"/>
                <a:ext cx="1449971" cy="9906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EB388A1C-B671-6BA7-8250-D8A2E7D17D50}"/>
                </a:ext>
              </a:extLst>
            </p:cNvPr>
            <p:cNvSpPr txBox="1"/>
            <p:nvPr/>
          </p:nvSpPr>
          <p:spPr>
            <a:xfrm>
              <a:off x="9636644" y="3649139"/>
              <a:ext cx="979179" cy="461665"/>
            </a:xfrm>
            <a:prstGeom prst="rect">
              <a:avLst/>
            </a:prstGeom>
            <a:noFill/>
          </p:spPr>
          <p:txBody>
            <a:bodyPr wrap="none" rtlCol="0">
              <a:spAutoFit/>
            </a:bodyPr>
            <a:lstStyle/>
            <a:p>
              <a:r>
                <a:rPr lang="en-US" sz="2400" b="1" dirty="0">
                  <a:solidFill>
                    <a:schemeClr val="tx2"/>
                  </a:solidFill>
                </a:rPr>
                <a:t>Step 3</a:t>
              </a:r>
            </a:p>
          </p:txBody>
        </p:sp>
      </p:grpSp>
      <p:sp>
        <p:nvSpPr>
          <p:cNvPr id="5" name="مربع نص 4">
            <a:extLst>
              <a:ext uri="{FF2B5EF4-FFF2-40B4-BE49-F238E27FC236}">
                <a16:creationId xmlns:a16="http://schemas.microsoft.com/office/drawing/2014/main" id="{FB90F0A4-977F-7006-01D9-DDE14B7D19AB}"/>
              </a:ext>
            </a:extLst>
          </p:cNvPr>
          <p:cNvSpPr txBox="1"/>
          <p:nvPr/>
        </p:nvSpPr>
        <p:spPr>
          <a:xfrm>
            <a:off x="17145000" y="90297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8</a:t>
            </a:r>
          </a:p>
        </p:txBody>
      </p:sp>
    </p:spTree>
    <p:extLst>
      <p:ext uri="{BB962C8B-B14F-4D97-AF65-F5344CB8AC3E}">
        <p14:creationId xmlns:p14="http://schemas.microsoft.com/office/powerpoint/2010/main" val="1433495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1000"/>
                                        <p:tgtEl>
                                          <p:spTgt spid="60"/>
                                        </p:tgtEl>
                                      </p:cBhvr>
                                    </p:animEffect>
                                    <p:anim calcmode="lin" valueType="num">
                                      <p:cBhvr>
                                        <p:cTn id="13" dur="1000" fill="hold"/>
                                        <p:tgtEl>
                                          <p:spTgt spid="60"/>
                                        </p:tgtEl>
                                        <p:attrNameLst>
                                          <p:attrName>ppt_x</p:attrName>
                                        </p:attrNameLst>
                                      </p:cBhvr>
                                      <p:tavLst>
                                        <p:tav tm="0">
                                          <p:val>
                                            <p:strVal val="#ppt_x"/>
                                          </p:val>
                                        </p:tav>
                                        <p:tav tm="100000">
                                          <p:val>
                                            <p:strVal val="#ppt_x"/>
                                          </p:val>
                                        </p:tav>
                                      </p:tavLst>
                                    </p:anim>
                                    <p:anim calcmode="lin" valueType="num">
                                      <p:cBhvr>
                                        <p:cTn id="14"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fade">
                                      <p:cBhvr>
                                        <p:cTn id="19" dur="1000"/>
                                        <p:tgtEl>
                                          <p:spTgt spid="59"/>
                                        </p:tgtEl>
                                      </p:cBhvr>
                                    </p:animEffect>
                                    <p:anim calcmode="lin" valueType="num">
                                      <p:cBhvr>
                                        <p:cTn id="20" dur="1000" fill="hold"/>
                                        <p:tgtEl>
                                          <p:spTgt spid="59"/>
                                        </p:tgtEl>
                                        <p:attrNameLst>
                                          <p:attrName>ppt_x</p:attrName>
                                        </p:attrNameLst>
                                      </p:cBhvr>
                                      <p:tavLst>
                                        <p:tav tm="0">
                                          <p:val>
                                            <p:strVal val="#ppt_x"/>
                                          </p:val>
                                        </p:tav>
                                        <p:tav tm="100000">
                                          <p:val>
                                            <p:strVal val="#ppt_x"/>
                                          </p:val>
                                        </p:tav>
                                      </p:tavLst>
                                    </p:anim>
                                    <p:anim calcmode="lin" valueType="num">
                                      <p:cBhvr>
                                        <p:cTn id="21"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7"/>
                                        </p:tgtEl>
                                        <p:attrNameLst>
                                          <p:attrName>style.visibility</p:attrName>
                                        </p:attrNameLst>
                                      </p:cBhvr>
                                      <p:to>
                                        <p:strVal val="visible"/>
                                      </p:to>
                                    </p:set>
                                    <p:animEffect transition="in" filter="fade">
                                      <p:cBhvr>
                                        <p:cTn id="26" dur="1000"/>
                                        <p:tgtEl>
                                          <p:spTgt spid="67"/>
                                        </p:tgtEl>
                                      </p:cBhvr>
                                    </p:animEffect>
                                    <p:anim calcmode="lin" valueType="num">
                                      <p:cBhvr>
                                        <p:cTn id="27" dur="1000" fill="hold"/>
                                        <p:tgtEl>
                                          <p:spTgt spid="67"/>
                                        </p:tgtEl>
                                        <p:attrNameLst>
                                          <p:attrName>ppt_x</p:attrName>
                                        </p:attrNameLst>
                                      </p:cBhvr>
                                      <p:tavLst>
                                        <p:tav tm="0">
                                          <p:val>
                                            <p:strVal val="#ppt_x"/>
                                          </p:val>
                                        </p:tav>
                                        <p:tav tm="100000">
                                          <p:val>
                                            <p:strVal val="#ppt_x"/>
                                          </p:val>
                                        </p:tav>
                                      </p:tavLst>
                                    </p:anim>
                                    <p:anim calcmode="lin" valueType="num">
                                      <p:cBhvr>
                                        <p:cTn id="28"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1000"/>
                                        <p:tgtEl>
                                          <p:spTgt spid="32"/>
                                        </p:tgtEl>
                                      </p:cBhvr>
                                    </p:animEffect>
                                    <p:anim calcmode="lin" valueType="num">
                                      <p:cBhvr>
                                        <p:cTn id="34" dur="1000" fill="hold"/>
                                        <p:tgtEl>
                                          <p:spTgt spid="32"/>
                                        </p:tgtEl>
                                        <p:attrNameLst>
                                          <p:attrName>ppt_x</p:attrName>
                                        </p:attrNameLst>
                                      </p:cBhvr>
                                      <p:tavLst>
                                        <p:tav tm="0">
                                          <p:val>
                                            <p:strVal val="#ppt_x"/>
                                          </p:val>
                                        </p:tav>
                                        <p:tav tm="100000">
                                          <p:val>
                                            <p:strVal val="#ppt_x"/>
                                          </p:val>
                                        </p:tav>
                                      </p:tavLst>
                                    </p:anim>
                                    <p:anim calcmode="lin" valueType="num">
                                      <p:cBhvr>
                                        <p:cTn id="3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3271944C-F7E9-B772-95D1-DCAEC55EE48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8DF7EA2-E5A2-3ED1-165B-CFA6F4D54732}"/>
              </a:ext>
            </a:extLst>
          </p:cNvPr>
          <p:cNvSpPr txBox="1"/>
          <p:nvPr/>
        </p:nvSpPr>
        <p:spPr>
          <a:xfrm>
            <a:off x="5867400" y="793571"/>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Step 1: Data Normalization</a:t>
            </a:r>
          </a:p>
        </p:txBody>
      </p:sp>
      <p:sp>
        <p:nvSpPr>
          <p:cNvPr id="28" name="TextBox 27">
            <a:extLst>
              <a:ext uri="{FF2B5EF4-FFF2-40B4-BE49-F238E27FC236}">
                <a16:creationId xmlns:a16="http://schemas.microsoft.com/office/drawing/2014/main" id="{755E8531-A006-63AC-21BC-4575A2688AEE}"/>
              </a:ext>
            </a:extLst>
          </p:cNvPr>
          <p:cNvSpPr txBox="1"/>
          <p:nvPr/>
        </p:nvSpPr>
        <p:spPr>
          <a:xfrm>
            <a:off x="533400" y="2247900"/>
            <a:ext cx="18059400" cy="574067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3200" b="1" dirty="0">
                <a:solidFill>
                  <a:schemeClr val="tx2"/>
                </a:solidFill>
              </a:rPr>
              <a:t>Split the original dataset into multiple related tables: </a:t>
            </a:r>
          </a:p>
          <a:p>
            <a:pPr lvl="1" algn="ctr">
              <a:lnSpc>
                <a:spcPct val="150000"/>
              </a:lnSpc>
            </a:pPr>
            <a:r>
              <a:rPr lang="en-US" sz="2400" b="1" dirty="0">
                <a:solidFill>
                  <a:schemeClr val="tx2"/>
                </a:solidFill>
              </a:rPr>
              <a:t>Customers  |  Products |  Locations  | Orders | Order Details </a:t>
            </a:r>
            <a:endParaRPr lang="en-US" sz="3200" b="1" dirty="0">
              <a:solidFill>
                <a:schemeClr val="tx2"/>
              </a:solidFill>
            </a:endParaRPr>
          </a:p>
          <a:p>
            <a:pPr marL="285750" indent="-285750">
              <a:lnSpc>
                <a:spcPct val="150000"/>
              </a:lnSpc>
              <a:buFont typeface="Arial" panose="020B0604020202020204" pitchFamily="34" charset="0"/>
              <a:buChar char="•"/>
            </a:pPr>
            <a:r>
              <a:rPr lang="en-US" sz="3200" b="1" dirty="0">
                <a:solidFill>
                  <a:schemeClr val="tx2"/>
                </a:solidFill>
              </a:rPr>
              <a:t>Improved data integrity. </a:t>
            </a:r>
          </a:p>
          <a:p>
            <a:pPr marL="285750" indent="-285750">
              <a:lnSpc>
                <a:spcPct val="150000"/>
              </a:lnSpc>
              <a:buFont typeface="Arial" panose="020B0604020202020204" pitchFamily="34" charset="0"/>
              <a:buChar char="•"/>
            </a:pPr>
            <a:r>
              <a:rPr lang="en-US" sz="3200" b="1" dirty="0">
                <a:solidFill>
                  <a:schemeClr val="tx2"/>
                </a:solidFill>
              </a:rPr>
              <a:t>Reduced data redundancy. </a:t>
            </a:r>
          </a:p>
          <a:p>
            <a:pPr marL="285750" indent="-285750">
              <a:lnSpc>
                <a:spcPct val="150000"/>
              </a:lnSpc>
              <a:buFont typeface="Arial" panose="020B0604020202020204" pitchFamily="34" charset="0"/>
              <a:buChar char="•"/>
            </a:pPr>
            <a:r>
              <a:rPr lang="en-US" sz="3200" b="1" dirty="0">
                <a:solidFill>
                  <a:schemeClr val="tx2"/>
                </a:solidFill>
              </a:rPr>
              <a:t>Simplified database maintenance. </a:t>
            </a:r>
          </a:p>
          <a:p>
            <a:pPr marL="285750" indent="-285750">
              <a:lnSpc>
                <a:spcPct val="150000"/>
              </a:lnSpc>
              <a:buFont typeface="Arial" panose="020B0604020202020204" pitchFamily="34" charset="0"/>
              <a:buChar char="•"/>
            </a:pPr>
            <a:r>
              <a:rPr lang="en-US" sz="3200" b="1" dirty="0">
                <a:solidFill>
                  <a:schemeClr val="tx2"/>
                </a:solidFill>
              </a:rPr>
              <a:t>Enhanced SQL query performance. </a:t>
            </a:r>
          </a:p>
          <a:p>
            <a:pPr marL="285750" indent="-285750">
              <a:lnSpc>
                <a:spcPct val="150000"/>
              </a:lnSpc>
              <a:buFont typeface="Arial" panose="020B0604020202020204" pitchFamily="34" charset="0"/>
              <a:buChar char="•"/>
            </a:pPr>
            <a:r>
              <a:rPr lang="en-US" sz="3200" b="1" dirty="0">
                <a:solidFill>
                  <a:schemeClr val="tx2"/>
                </a:solidFill>
              </a:rPr>
              <a:t>Organized the database more efficiently. </a:t>
            </a:r>
          </a:p>
          <a:p>
            <a:pPr marL="285750" indent="-285750">
              <a:lnSpc>
                <a:spcPct val="150000"/>
              </a:lnSpc>
              <a:buFont typeface="Arial" panose="020B0604020202020204" pitchFamily="34" charset="0"/>
              <a:buChar char="•"/>
            </a:pPr>
            <a:r>
              <a:rPr lang="en-US" sz="3200" b="1" dirty="0">
                <a:solidFill>
                  <a:schemeClr val="tx2"/>
                </a:solidFill>
              </a:rPr>
              <a:t>Made data analysis more accurate and efficient. </a:t>
            </a:r>
          </a:p>
        </p:txBody>
      </p:sp>
      <p:sp>
        <p:nvSpPr>
          <p:cNvPr id="3" name="مربع نص 2">
            <a:extLst>
              <a:ext uri="{FF2B5EF4-FFF2-40B4-BE49-F238E27FC236}">
                <a16:creationId xmlns:a16="http://schemas.microsoft.com/office/drawing/2014/main" id="{DD636986-BDA6-DD64-992B-F0511C51059C}"/>
              </a:ext>
            </a:extLst>
          </p:cNvPr>
          <p:cNvSpPr txBox="1"/>
          <p:nvPr/>
        </p:nvSpPr>
        <p:spPr>
          <a:xfrm>
            <a:off x="17221200" y="9105900"/>
            <a:ext cx="929912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8</a:t>
            </a:r>
          </a:p>
        </p:txBody>
      </p:sp>
    </p:spTree>
    <p:extLst>
      <p:ext uri="{BB962C8B-B14F-4D97-AF65-F5344CB8AC3E}">
        <p14:creationId xmlns:p14="http://schemas.microsoft.com/office/powerpoint/2010/main" val="4139280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C987F65A-178C-E429-4BD2-56C8C2CAACE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3F1437F-351B-F152-C0DF-B1EFBCB1CEB4}"/>
              </a:ext>
            </a:extLst>
          </p:cNvPr>
          <p:cNvSpPr txBox="1"/>
          <p:nvPr/>
        </p:nvSpPr>
        <p:spPr>
          <a:xfrm>
            <a:off x="6387950" y="586527"/>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Dataset Model</a:t>
            </a:r>
          </a:p>
        </p:txBody>
      </p:sp>
      <p:pic>
        <p:nvPicPr>
          <p:cNvPr id="3" name="Picture 2">
            <a:extLst>
              <a:ext uri="{FF2B5EF4-FFF2-40B4-BE49-F238E27FC236}">
                <a16:creationId xmlns:a16="http://schemas.microsoft.com/office/drawing/2014/main" id="{17CD3E16-4EE2-9CDD-5843-0FAA41B88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714500"/>
            <a:ext cx="15697200" cy="7620000"/>
          </a:xfrm>
          <a:prstGeom prst="rect">
            <a:avLst/>
          </a:prstGeom>
          <a:ln>
            <a:solidFill>
              <a:schemeClr val="accent1"/>
            </a:solidFill>
          </a:ln>
          <a:effectLst>
            <a:glow rad="63500">
              <a:schemeClr val="accent1">
                <a:satMod val="175000"/>
                <a:alpha val="40000"/>
              </a:schemeClr>
            </a:glow>
            <a:outerShdw blurRad="50800" dist="38100" algn="l" rotWithShape="0">
              <a:prstClr val="black">
                <a:alpha val="40000"/>
              </a:prstClr>
            </a:outerShdw>
            <a:softEdge rad="31750"/>
          </a:effectLst>
        </p:spPr>
      </p:pic>
      <p:sp>
        <p:nvSpPr>
          <p:cNvPr id="4" name="مربع نص 3">
            <a:extLst>
              <a:ext uri="{FF2B5EF4-FFF2-40B4-BE49-F238E27FC236}">
                <a16:creationId xmlns:a16="http://schemas.microsoft.com/office/drawing/2014/main" id="{3F4AF2CD-E26B-6B22-A7A0-C58461B2B859}"/>
              </a:ext>
            </a:extLst>
          </p:cNvPr>
          <p:cNvSpPr txBox="1"/>
          <p:nvPr/>
        </p:nvSpPr>
        <p:spPr>
          <a:xfrm>
            <a:off x="17373600" y="9272683"/>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9</a:t>
            </a:r>
          </a:p>
        </p:txBody>
      </p:sp>
    </p:spTree>
    <p:extLst>
      <p:ext uri="{BB962C8B-B14F-4D97-AF65-F5344CB8AC3E}">
        <p14:creationId xmlns:p14="http://schemas.microsoft.com/office/powerpoint/2010/main" val="1714529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6428A641-6537-8EDA-3601-FF88247B472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B0D5FC5-FB74-8689-260C-58CFFC108CE2}"/>
              </a:ext>
            </a:extLst>
          </p:cNvPr>
          <p:cNvPicPr>
            <a:picLocks noChangeAspect="1"/>
          </p:cNvPicPr>
          <p:nvPr/>
        </p:nvPicPr>
        <p:blipFill>
          <a:blip r:embed="rId2"/>
          <a:stretch>
            <a:fillRect/>
          </a:stretch>
        </p:blipFill>
        <p:spPr>
          <a:xfrm>
            <a:off x="3912415" y="439243"/>
            <a:ext cx="10463167" cy="2796782"/>
          </a:xfrm>
          <a:prstGeom prst="rect">
            <a:avLst/>
          </a:prstGeom>
          <a:effectLst>
            <a:glow rad="63500">
              <a:schemeClr val="accent1">
                <a:satMod val="175000"/>
                <a:alpha val="40000"/>
              </a:schemeClr>
            </a:glow>
          </a:effectLst>
        </p:spPr>
      </p:pic>
      <p:pic>
        <p:nvPicPr>
          <p:cNvPr id="10" name="Picture 9">
            <a:extLst>
              <a:ext uri="{FF2B5EF4-FFF2-40B4-BE49-F238E27FC236}">
                <a16:creationId xmlns:a16="http://schemas.microsoft.com/office/drawing/2014/main" id="{1F0DC5BB-371C-EBCA-9E88-D51FEB7E17CD}"/>
              </a:ext>
            </a:extLst>
          </p:cNvPr>
          <p:cNvPicPr>
            <a:picLocks noChangeAspect="1"/>
          </p:cNvPicPr>
          <p:nvPr/>
        </p:nvPicPr>
        <p:blipFill>
          <a:blip r:embed="rId3"/>
          <a:stretch>
            <a:fillRect/>
          </a:stretch>
        </p:blipFill>
        <p:spPr>
          <a:xfrm>
            <a:off x="6225799" y="4283584"/>
            <a:ext cx="5379203" cy="1066800"/>
          </a:xfrm>
          <a:prstGeom prst="rect">
            <a:avLst/>
          </a:prstGeom>
          <a:effectLst>
            <a:glow rad="63500">
              <a:schemeClr val="accent1">
                <a:satMod val="175000"/>
                <a:alpha val="40000"/>
              </a:schemeClr>
            </a:glow>
          </a:effectLst>
        </p:spPr>
      </p:pic>
      <p:pic>
        <p:nvPicPr>
          <p:cNvPr id="12" name="Picture 11">
            <a:extLst>
              <a:ext uri="{FF2B5EF4-FFF2-40B4-BE49-F238E27FC236}">
                <a16:creationId xmlns:a16="http://schemas.microsoft.com/office/drawing/2014/main" id="{B4081F2D-9035-717D-B6A4-642F37810F6E}"/>
              </a:ext>
            </a:extLst>
          </p:cNvPr>
          <p:cNvPicPr>
            <a:picLocks noChangeAspect="1"/>
          </p:cNvPicPr>
          <p:nvPr/>
        </p:nvPicPr>
        <p:blipFill>
          <a:blip r:embed="rId4"/>
          <a:stretch>
            <a:fillRect/>
          </a:stretch>
        </p:blipFill>
        <p:spPr>
          <a:xfrm>
            <a:off x="6198585" y="5828627"/>
            <a:ext cx="5379203" cy="1535497"/>
          </a:xfrm>
          <a:prstGeom prst="rect">
            <a:avLst/>
          </a:prstGeom>
          <a:ln>
            <a:solidFill>
              <a:schemeClr val="accent1"/>
            </a:solidFill>
          </a:ln>
          <a:effectLst>
            <a:glow rad="63500">
              <a:schemeClr val="accent1">
                <a:satMod val="175000"/>
                <a:alpha val="40000"/>
              </a:schemeClr>
            </a:glow>
          </a:effectLst>
        </p:spPr>
      </p:pic>
      <p:pic>
        <p:nvPicPr>
          <p:cNvPr id="14" name="Picture 13">
            <a:extLst>
              <a:ext uri="{FF2B5EF4-FFF2-40B4-BE49-F238E27FC236}">
                <a16:creationId xmlns:a16="http://schemas.microsoft.com/office/drawing/2014/main" id="{25F8C80F-D495-D5E6-18C5-9B40F852C385}"/>
              </a:ext>
            </a:extLst>
          </p:cNvPr>
          <p:cNvPicPr>
            <a:picLocks noChangeAspect="1"/>
          </p:cNvPicPr>
          <p:nvPr/>
        </p:nvPicPr>
        <p:blipFill>
          <a:blip r:embed="rId5"/>
          <a:stretch>
            <a:fillRect/>
          </a:stretch>
        </p:blipFill>
        <p:spPr>
          <a:xfrm>
            <a:off x="5299946" y="7932100"/>
            <a:ext cx="7688104" cy="990600"/>
          </a:xfrm>
          <a:prstGeom prst="rect">
            <a:avLst/>
          </a:prstGeom>
          <a:effectLst>
            <a:glow rad="63500">
              <a:schemeClr val="accent1">
                <a:satMod val="175000"/>
                <a:alpha val="40000"/>
              </a:schemeClr>
            </a:glow>
          </a:effectLst>
        </p:spPr>
      </p:pic>
      <p:sp>
        <p:nvSpPr>
          <p:cNvPr id="16" name="Arrow: Down 15">
            <a:extLst>
              <a:ext uri="{FF2B5EF4-FFF2-40B4-BE49-F238E27FC236}">
                <a16:creationId xmlns:a16="http://schemas.microsoft.com/office/drawing/2014/main" id="{9324C391-AA2E-CC27-94F4-745EB27C91F8}"/>
              </a:ext>
            </a:extLst>
          </p:cNvPr>
          <p:cNvSpPr/>
          <p:nvPr/>
        </p:nvSpPr>
        <p:spPr>
          <a:xfrm>
            <a:off x="8382000" y="3236025"/>
            <a:ext cx="533401" cy="8499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مربع نص 3">
            <a:extLst>
              <a:ext uri="{FF2B5EF4-FFF2-40B4-BE49-F238E27FC236}">
                <a16:creationId xmlns:a16="http://schemas.microsoft.com/office/drawing/2014/main" id="{EA69D398-6AD0-8F86-8C53-88C6F580978F}"/>
              </a:ext>
            </a:extLst>
          </p:cNvPr>
          <p:cNvSpPr txBox="1"/>
          <p:nvPr/>
        </p:nvSpPr>
        <p:spPr>
          <a:xfrm>
            <a:off x="16916400" y="91059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10</a:t>
            </a:r>
          </a:p>
        </p:txBody>
      </p:sp>
    </p:spTree>
    <p:extLst>
      <p:ext uri="{BB962C8B-B14F-4D97-AF65-F5344CB8AC3E}">
        <p14:creationId xmlns:p14="http://schemas.microsoft.com/office/powerpoint/2010/main" val="673943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D173C72C-C6D4-03DF-96AA-08D28BB7E7B5}"/>
            </a:ext>
          </a:extLst>
        </p:cNvPr>
        <p:cNvGrpSpPr/>
        <p:nvPr/>
      </p:nvGrpSpPr>
      <p:grpSpPr>
        <a:xfrm>
          <a:off x="0" y="0"/>
          <a:ext cx="0" cy="0"/>
          <a:chOff x="0" y="0"/>
          <a:chExt cx="0" cy="0"/>
        </a:xfrm>
      </p:grpSpPr>
      <p:sp>
        <p:nvSpPr>
          <p:cNvPr id="16" name="Arrow: Down 15">
            <a:extLst>
              <a:ext uri="{FF2B5EF4-FFF2-40B4-BE49-F238E27FC236}">
                <a16:creationId xmlns:a16="http://schemas.microsoft.com/office/drawing/2014/main" id="{4FEAA25F-580B-3BF2-FA53-1A86ED048EC6}"/>
              </a:ext>
            </a:extLst>
          </p:cNvPr>
          <p:cNvSpPr/>
          <p:nvPr/>
        </p:nvSpPr>
        <p:spPr>
          <a:xfrm>
            <a:off x="7696200" y="2781300"/>
            <a:ext cx="533401" cy="8499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C9F6337-6072-3684-3E53-CCB1FED5FEC9}"/>
              </a:ext>
            </a:extLst>
          </p:cNvPr>
          <p:cNvPicPr>
            <a:picLocks noChangeAspect="1"/>
          </p:cNvPicPr>
          <p:nvPr/>
        </p:nvPicPr>
        <p:blipFill>
          <a:blip r:embed="rId2"/>
          <a:stretch>
            <a:fillRect/>
          </a:stretch>
        </p:blipFill>
        <p:spPr>
          <a:xfrm>
            <a:off x="2152044" y="1236852"/>
            <a:ext cx="13983912" cy="998307"/>
          </a:xfrm>
          <a:prstGeom prst="rect">
            <a:avLst/>
          </a:prstGeom>
          <a:effectLst>
            <a:glow rad="63500">
              <a:schemeClr val="accent2">
                <a:satMod val="175000"/>
                <a:alpha val="40000"/>
              </a:schemeClr>
            </a:glow>
          </a:effectLst>
        </p:spPr>
      </p:pic>
      <p:pic>
        <p:nvPicPr>
          <p:cNvPr id="8" name="Picture 7">
            <a:extLst>
              <a:ext uri="{FF2B5EF4-FFF2-40B4-BE49-F238E27FC236}">
                <a16:creationId xmlns:a16="http://schemas.microsoft.com/office/drawing/2014/main" id="{13553A3E-2341-E59E-BBD8-20A01D12421B}"/>
              </a:ext>
            </a:extLst>
          </p:cNvPr>
          <p:cNvPicPr>
            <a:picLocks noChangeAspect="1"/>
          </p:cNvPicPr>
          <p:nvPr/>
        </p:nvPicPr>
        <p:blipFill>
          <a:blip r:embed="rId3"/>
          <a:stretch>
            <a:fillRect/>
          </a:stretch>
        </p:blipFill>
        <p:spPr>
          <a:xfrm>
            <a:off x="3292929" y="4161060"/>
            <a:ext cx="3999676" cy="1215213"/>
          </a:xfrm>
          <a:prstGeom prst="rect">
            <a:avLst/>
          </a:prstGeom>
          <a:effectLst>
            <a:glow rad="63500">
              <a:schemeClr val="accent2">
                <a:satMod val="175000"/>
                <a:alpha val="40000"/>
              </a:schemeClr>
            </a:glow>
          </a:effectLst>
        </p:spPr>
      </p:pic>
      <p:pic>
        <p:nvPicPr>
          <p:cNvPr id="11" name="Picture 10">
            <a:extLst>
              <a:ext uri="{FF2B5EF4-FFF2-40B4-BE49-F238E27FC236}">
                <a16:creationId xmlns:a16="http://schemas.microsoft.com/office/drawing/2014/main" id="{ECE1E55D-732B-4626-CA8F-166FD105F24E}"/>
              </a:ext>
            </a:extLst>
          </p:cNvPr>
          <p:cNvPicPr>
            <a:picLocks noChangeAspect="1"/>
          </p:cNvPicPr>
          <p:nvPr/>
        </p:nvPicPr>
        <p:blipFill>
          <a:blip r:embed="rId4"/>
          <a:stretch>
            <a:fillRect/>
          </a:stretch>
        </p:blipFill>
        <p:spPr>
          <a:xfrm>
            <a:off x="9525000" y="4161061"/>
            <a:ext cx="3695626" cy="1215213"/>
          </a:xfrm>
          <a:prstGeom prst="rect">
            <a:avLst/>
          </a:prstGeom>
          <a:effectLst>
            <a:glow rad="63500">
              <a:schemeClr val="accent2">
                <a:satMod val="175000"/>
                <a:alpha val="40000"/>
              </a:schemeClr>
            </a:glow>
          </a:effectLst>
        </p:spPr>
      </p:pic>
      <p:pic>
        <p:nvPicPr>
          <p:cNvPr id="15" name="Picture 14">
            <a:extLst>
              <a:ext uri="{FF2B5EF4-FFF2-40B4-BE49-F238E27FC236}">
                <a16:creationId xmlns:a16="http://schemas.microsoft.com/office/drawing/2014/main" id="{4EF71018-91EE-BA08-E0CE-80E3CBA2F931}"/>
              </a:ext>
            </a:extLst>
          </p:cNvPr>
          <p:cNvPicPr>
            <a:picLocks noChangeAspect="1"/>
          </p:cNvPicPr>
          <p:nvPr/>
        </p:nvPicPr>
        <p:blipFill>
          <a:blip r:embed="rId5"/>
          <a:stretch>
            <a:fillRect/>
          </a:stretch>
        </p:blipFill>
        <p:spPr>
          <a:xfrm>
            <a:off x="3276600" y="5783256"/>
            <a:ext cx="4173216" cy="1558671"/>
          </a:xfrm>
          <a:prstGeom prst="rect">
            <a:avLst/>
          </a:prstGeom>
          <a:effectLst>
            <a:glow rad="63500">
              <a:schemeClr val="accent2">
                <a:satMod val="175000"/>
                <a:alpha val="40000"/>
              </a:schemeClr>
            </a:glow>
          </a:effectLst>
        </p:spPr>
      </p:pic>
      <p:pic>
        <p:nvPicPr>
          <p:cNvPr id="18" name="Picture 17">
            <a:extLst>
              <a:ext uri="{FF2B5EF4-FFF2-40B4-BE49-F238E27FC236}">
                <a16:creationId xmlns:a16="http://schemas.microsoft.com/office/drawing/2014/main" id="{27E00EC8-CEEC-8555-B982-31DE5406E3DA}"/>
              </a:ext>
            </a:extLst>
          </p:cNvPr>
          <p:cNvPicPr>
            <a:picLocks noChangeAspect="1"/>
          </p:cNvPicPr>
          <p:nvPr/>
        </p:nvPicPr>
        <p:blipFill>
          <a:blip r:embed="rId6"/>
          <a:stretch>
            <a:fillRect/>
          </a:stretch>
        </p:blipFill>
        <p:spPr>
          <a:xfrm>
            <a:off x="8257785" y="5768541"/>
            <a:ext cx="5829805" cy="1653683"/>
          </a:xfrm>
          <a:prstGeom prst="rect">
            <a:avLst/>
          </a:prstGeom>
          <a:effectLst>
            <a:glow rad="63500">
              <a:schemeClr val="accent2">
                <a:satMod val="175000"/>
                <a:alpha val="40000"/>
              </a:schemeClr>
            </a:glow>
          </a:effectLst>
        </p:spPr>
      </p:pic>
      <p:pic>
        <p:nvPicPr>
          <p:cNvPr id="20" name="Picture 19">
            <a:extLst>
              <a:ext uri="{FF2B5EF4-FFF2-40B4-BE49-F238E27FC236}">
                <a16:creationId xmlns:a16="http://schemas.microsoft.com/office/drawing/2014/main" id="{7927E943-B740-D9D2-2B6C-269A3BFC2FE4}"/>
              </a:ext>
            </a:extLst>
          </p:cNvPr>
          <p:cNvPicPr>
            <a:picLocks noChangeAspect="1"/>
          </p:cNvPicPr>
          <p:nvPr/>
        </p:nvPicPr>
        <p:blipFill>
          <a:blip r:embed="rId7"/>
          <a:stretch>
            <a:fillRect/>
          </a:stretch>
        </p:blipFill>
        <p:spPr>
          <a:xfrm>
            <a:off x="4409685" y="7682252"/>
            <a:ext cx="7696200" cy="2202871"/>
          </a:xfrm>
          <a:prstGeom prst="rect">
            <a:avLst/>
          </a:prstGeom>
          <a:effectLst>
            <a:glow rad="63500">
              <a:schemeClr val="accent2">
                <a:satMod val="175000"/>
                <a:alpha val="40000"/>
              </a:schemeClr>
            </a:glow>
          </a:effectLst>
        </p:spPr>
      </p:pic>
      <p:sp>
        <p:nvSpPr>
          <p:cNvPr id="3" name="مربع نص 2">
            <a:extLst>
              <a:ext uri="{FF2B5EF4-FFF2-40B4-BE49-F238E27FC236}">
                <a16:creationId xmlns:a16="http://schemas.microsoft.com/office/drawing/2014/main" id="{53EA9042-CBF9-AEA5-892B-1470D0109907}"/>
              </a:ext>
            </a:extLst>
          </p:cNvPr>
          <p:cNvSpPr txBox="1"/>
          <p:nvPr/>
        </p:nvSpPr>
        <p:spPr>
          <a:xfrm>
            <a:off x="17145000" y="91059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11</a:t>
            </a:r>
          </a:p>
        </p:txBody>
      </p:sp>
    </p:spTree>
    <p:extLst>
      <p:ext uri="{BB962C8B-B14F-4D97-AF65-F5344CB8AC3E}">
        <p14:creationId xmlns:p14="http://schemas.microsoft.com/office/powerpoint/2010/main" val="3190946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8994C5EC-F959-4AF5-2407-5912FC5BDDD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C46C888-9E1F-E5B8-5CE3-99A0231240D3}"/>
              </a:ext>
            </a:extLst>
          </p:cNvPr>
          <p:cNvSpPr txBox="1"/>
          <p:nvPr/>
        </p:nvSpPr>
        <p:spPr>
          <a:xfrm>
            <a:off x="304800" y="419100"/>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Step 2: Data Transformations</a:t>
            </a:r>
          </a:p>
        </p:txBody>
      </p:sp>
      <p:sp>
        <p:nvSpPr>
          <p:cNvPr id="28" name="TextBox 27">
            <a:extLst>
              <a:ext uri="{FF2B5EF4-FFF2-40B4-BE49-F238E27FC236}">
                <a16:creationId xmlns:a16="http://schemas.microsoft.com/office/drawing/2014/main" id="{030225A4-62FD-3CFD-8DB5-C3A8AFDFE9B1}"/>
              </a:ext>
            </a:extLst>
          </p:cNvPr>
          <p:cNvSpPr txBox="1"/>
          <p:nvPr/>
        </p:nvSpPr>
        <p:spPr>
          <a:xfrm>
            <a:off x="609600" y="1790700"/>
            <a:ext cx="18059400" cy="6494085"/>
          </a:xfrm>
          <a:prstGeom prst="rect">
            <a:avLst/>
          </a:prstGeom>
          <a:noFill/>
        </p:spPr>
        <p:txBody>
          <a:bodyPr wrap="square">
            <a:spAutoFit/>
          </a:bodyPr>
          <a:lstStyle/>
          <a:p>
            <a:pPr marL="457200" indent="-457200">
              <a:buFont typeface="Arial" panose="020B0604020202020204" pitchFamily="34" charset="0"/>
              <a:buChar char="•"/>
            </a:pPr>
            <a:r>
              <a:rPr lang="en-US" sz="3200" b="1" dirty="0">
                <a:solidFill>
                  <a:schemeClr val="tx2"/>
                </a:solidFill>
              </a:rPr>
              <a:t>Converted data types to the appropriate formats.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Standardized data formats for consistency.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Created calculated fields where needed.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Formatted date fields to support time-based analysis.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Structured the data for efficient SQL queries.</a:t>
            </a:r>
            <a:endParaRPr lang="ar-EG" sz="3200" b="1" dirty="0">
              <a:solidFill>
                <a:schemeClr val="tx2"/>
              </a:solidFill>
            </a:endParaRPr>
          </a:p>
          <a:p>
            <a:r>
              <a:rPr lang="en-US" sz="3200" b="1" dirty="0">
                <a:solidFill>
                  <a:schemeClr val="tx2"/>
                </a:solidFill>
              </a:rPr>
              <a:t> </a:t>
            </a:r>
          </a:p>
          <a:p>
            <a:pPr marL="457200" indent="-457200">
              <a:buFont typeface="Arial" panose="020B0604020202020204" pitchFamily="34" charset="0"/>
              <a:buChar char="•"/>
            </a:pPr>
            <a:r>
              <a:rPr lang="en-US" sz="3200" b="1" dirty="0">
                <a:solidFill>
                  <a:schemeClr val="tx2"/>
                </a:solidFill>
              </a:rPr>
              <a:t>Ensured the dataset was consistent and analysis-ready.</a:t>
            </a:r>
            <a:endParaRPr lang="ar-EG" sz="3200" b="1" dirty="0">
              <a:solidFill>
                <a:schemeClr val="tx2"/>
              </a:solidFill>
            </a:endParaRPr>
          </a:p>
          <a:p>
            <a:r>
              <a:rPr lang="en-US" sz="3200" b="1" dirty="0">
                <a:solidFill>
                  <a:schemeClr val="tx2"/>
                </a:solidFill>
              </a:rPr>
              <a:t> </a:t>
            </a:r>
          </a:p>
          <a:p>
            <a:pPr marL="457200" indent="-457200">
              <a:buFont typeface="Arial" panose="020B0604020202020204" pitchFamily="34" charset="0"/>
              <a:buChar char="•"/>
            </a:pPr>
            <a:r>
              <a:rPr lang="en-US" sz="3200" b="1" dirty="0">
                <a:solidFill>
                  <a:schemeClr val="tx2"/>
                </a:solidFill>
              </a:rPr>
              <a:t>Improved the accuracy of business insights. </a:t>
            </a:r>
          </a:p>
        </p:txBody>
      </p:sp>
      <p:sp>
        <p:nvSpPr>
          <p:cNvPr id="3" name="مربع نص 2">
            <a:extLst>
              <a:ext uri="{FF2B5EF4-FFF2-40B4-BE49-F238E27FC236}">
                <a16:creationId xmlns:a16="http://schemas.microsoft.com/office/drawing/2014/main" id="{50DA9FD5-74F1-733C-BD6E-DB313681C7F9}"/>
              </a:ext>
            </a:extLst>
          </p:cNvPr>
          <p:cNvSpPr txBox="1"/>
          <p:nvPr/>
        </p:nvSpPr>
        <p:spPr>
          <a:xfrm>
            <a:off x="17068800" y="9272683"/>
            <a:ext cx="9339942"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12</a:t>
            </a:r>
          </a:p>
        </p:txBody>
      </p:sp>
    </p:spTree>
    <p:extLst>
      <p:ext uri="{BB962C8B-B14F-4D97-AF65-F5344CB8AC3E}">
        <p14:creationId xmlns:p14="http://schemas.microsoft.com/office/powerpoint/2010/main" val="440404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9CF02F2F-A458-688E-844D-421762D574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290424E-784B-CFF1-8408-42696EC4A6A8}"/>
              </a:ext>
            </a:extLst>
          </p:cNvPr>
          <p:cNvPicPr>
            <a:picLocks noChangeAspect="1"/>
          </p:cNvPicPr>
          <p:nvPr/>
        </p:nvPicPr>
        <p:blipFill>
          <a:blip r:embed="rId2"/>
          <a:stretch>
            <a:fillRect/>
          </a:stretch>
        </p:blipFill>
        <p:spPr>
          <a:xfrm>
            <a:off x="4648200" y="499909"/>
            <a:ext cx="8763000" cy="4683862"/>
          </a:xfrm>
          <a:prstGeom prst="rect">
            <a:avLst/>
          </a:prstGeom>
          <a:effectLst>
            <a:glow rad="63500">
              <a:schemeClr val="accent1">
                <a:satMod val="175000"/>
                <a:alpha val="40000"/>
              </a:schemeClr>
            </a:glow>
          </a:effectLst>
        </p:spPr>
      </p:pic>
      <p:pic>
        <p:nvPicPr>
          <p:cNvPr id="5" name="Picture 4">
            <a:extLst>
              <a:ext uri="{FF2B5EF4-FFF2-40B4-BE49-F238E27FC236}">
                <a16:creationId xmlns:a16="http://schemas.microsoft.com/office/drawing/2014/main" id="{82EDDDEB-448D-E009-6BBF-9195F69C1B62}"/>
              </a:ext>
            </a:extLst>
          </p:cNvPr>
          <p:cNvPicPr>
            <a:picLocks noChangeAspect="1"/>
          </p:cNvPicPr>
          <p:nvPr/>
        </p:nvPicPr>
        <p:blipFill>
          <a:blip r:embed="rId3"/>
          <a:stretch>
            <a:fillRect/>
          </a:stretch>
        </p:blipFill>
        <p:spPr>
          <a:xfrm>
            <a:off x="3505200" y="5753100"/>
            <a:ext cx="10771523" cy="1295400"/>
          </a:xfrm>
          <a:prstGeom prst="rect">
            <a:avLst/>
          </a:prstGeom>
          <a:effectLst>
            <a:glow rad="63500">
              <a:schemeClr val="accent1">
                <a:satMod val="175000"/>
                <a:alpha val="40000"/>
              </a:schemeClr>
            </a:glow>
          </a:effectLst>
        </p:spPr>
      </p:pic>
      <p:pic>
        <p:nvPicPr>
          <p:cNvPr id="7" name="Picture 6">
            <a:extLst>
              <a:ext uri="{FF2B5EF4-FFF2-40B4-BE49-F238E27FC236}">
                <a16:creationId xmlns:a16="http://schemas.microsoft.com/office/drawing/2014/main" id="{83481622-F069-0126-FAC3-EF6856D281D7}"/>
              </a:ext>
            </a:extLst>
          </p:cNvPr>
          <p:cNvPicPr>
            <a:picLocks noChangeAspect="1"/>
          </p:cNvPicPr>
          <p:nvPr/>
        </p:nvPicPr>
        <p:blipFill>
          <a:blip r:embed="rId4"/>
          <a:stretch>
            <a:fillRect/>
          </a:stretch>
        </p:blipFill>
        <p:spPr>
          <a:xfrm>
            <a:off x="2773242" y="7617829"/>
            <a:ext cx="12235437" cy="1752600"/>
          </a:xfrm>
          <a:prstGeom prst="rect">
            <a:avLst/>
          </a:prstGeom>
          <a:effectLst>
            <a:glow rad="63500">
              <a:schemeClr val="accent1">
                <a:satMod val="175000"/>
                <a:alpha val="40000"/>
              </a:schemeClr>
            </a:glow>
          </a:effectLst>
        </p:spPr>
      </p:pic>
      <p:sp>
        <p:nvSpPr>
          <p:cNvPr id="4" name="مربع نص 3">
            <a:extLst>
              <a:ext uri="{FF2B5EF4-FFF2-40B4-BE49-F238E27FC236}">
                <a16:creationId xmlns:a16="http://schemas.microsoft.com/office/drawing/2014/main" id="{CBA267C5-6631-C03C-EACB-3CEA1A8C3A15}"/>
              </a:ext>
            </a:extLst>
          </p:cNvPr>
          <p:cNvSpPr txBox="1"/>
          <p:nvPr/>
        </p:nvSpPr>
        <p:spPr>
          <a:xfrm>
            <a:off x="17145000" y="91059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13</a:t>
            </a:r>
          </a:p>
        </p:txBody>
      </p:sp>
    </p:spTree>
    <p:extLst>
      <p:ext uri="{BB962C8B-B14F-4D97-AF65-F5344CB8AC3E}">
        <p14:creationId xmlns:p14="http://schemas.microsoft.com/office/powerpoint/2010/main" val="1557618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8C868C94-BC6F-0D82-B741-7EC770C71B9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C51FA9B-92FA-0C0C-8059-F99763C66885}"/>
              </a:ext>
            </a:extLst>
          </p:cNvPr>
          <p:cNvSpPr txBox="1"/>
          <p:nvPr/>
        </p:nvSpPr>
        <p:spPr>
          <a:xfrm>
            <a:off x="3886200" y="1036906"/>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Step 3: Handling Missing Values</a:t>
            </a:r>
            <a:endParaRPr lang="en-US" sz="4400" b="1" dirty="0">
              <a:solidFill>
                <a:schemeClr val="tx2">
                  <a:lumMod val="75000"/>
                </a:schemeClr>
              </a:solidFill>
            </a:endParaRPr>
          </a:p>
        </p:txBody>
      </p:sp>
      <p:sp>
        <p:nvSpPr>
          <p:cNvPr id="28" name="TextBox 27">
            <a:extLst>
              <a:ext uri="{FF2B5EF4-FFF2-40B4-BE49-F238E27FC236}">
                <a16:creationId xmlns:a16="http://schemas.microsoft.com/office/drawing/2014/main" id="{7EAFF975-A4F8-5C55-1000-FF7C88FFA668}"/>
              </a:ext>
            </a:extLst>
          </p:cNvPr>
          <p:cNvSpPr txBox="1"/>
          <p:nvPr/>
        </p:nvSpPr>
        <p:spPr>
          <a:xfrm>
            <a:off x="457200" y="3009900"/>
            <a:ext cx="18059400" cy="5509200"/>
          </a:xfrm>
          <a:prstGeom prst="rect">
            <a:avLst/>
          </a:prstGeom>
          <a:noFill/>
        </p:spPr>
        <p:txBody>
          <a:bodyPr wrap="square">
            <a:spAutoFit/>
          </a:bodyPr>
          <a:lstStyle/>
          <a:p>
            <a:pPr marL="457200" indent="-457200">
              <a:buFont typeface="Arial" panose="020B0604020202020204" pitchFamily="34" charset="0"/>
              <a:buChar char="•"/>
            </a:pPr>
            <a:r>
              <a:rPr lang="en-US" sz="3200" b="1" dirty="0">
                <a:solidFill>
                  <a:schemeClr val="tx2"/>
                </a:solidFill>
              </a:rPr>
              <a:t>Identified missing and incomplete values.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Reviewed missing data to ensure data quality.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Handled missing values based on their impact on the analysis.</a:t>
            </a:r>
            <a:endParaRPr lang="ar-EG" sz="3200" b="1" dirty="0">
              <a:solidFill>
                <a:schemeClr val="tx2"/>
              </a:solidFill>
            </a:endParaRPr>
          </a:p>
          <a:p>
            <a:r>
              <a:rPr lang="en-US" sz="3200" b="1" dirty="0">
                <a:solidFill>
                  <a:schemeClr val="tx2"/>
                </a:solidFill>
              </a:rPr>
              <a:t> </a:t>
            </a:r>
          </a:p>
          <a:p>
            <a:pPr marL="457200" indent="-457200">
              <a:buFont typeface="Arial" panose="020B0604020202020204" pitchFamily="34" charset="0"/>
              <a:buChar char="•"/>
            </a:pPr>
            <a:r>
              <a:rPr lang="en-US" sz="3200" b="1" dirty="0">
                <a:solidFill>
                  <a:schemeClr val="tx2"/>
                </a:solidFill>
              </a:rPr>
              <a:t>Improved data accuracy and consistency.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Increased the reliability of the dataset.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Prepared the dataset for SQL analysis and Tableau dashboards. </a:t>
            </a:r>
          </a:p>
        </p:txBody>
      </p:sp>
      <p:sp>
        <p:nvSpPr>
          <p:cNvPr id="3" name="مربع نص 2">
            <a:extLst>
              <a:ext uri="{FF2B5EF4-FFF2-40B4-BE49-F238E27FC236}">
                <a16:creationId xmlns:a16="http://schemas.microsoft.com/office/drawing/2014/main" id="{3F846041-A5B2-F2DB-85A4-0CE76851476A}"/>
              </a:ext>
            </a:extLst>
          </p:cNvPr>
          <p:cNvSpPr txBox="1"/>
          <p:nvPr/>
        </p:nvSpPr>
        <p:spPr>
          <a:xfrm>
            <a:off x="17068800" y="9105900"/>
            <a:ext cx="92583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14</a:t>
            </a:r>
          </a:p>
        </p:txBody>
      </p:sp>
    </p:spTree>
    <p:extLst>
      <p:ext uri="{BB962C8B-B14F-4D97-AF65-F5344CB8AC3E}">
        <p14:creationId xmlns:p14="http://schemas.microsoft.com/office/powerpoint/2010/main" val="4118176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240CF96C-5B6C-590A-C022-28057E2295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7CAD226-129D-5C98-07E5-6868DFB6B757}"/>
              </a:ext>
            </a:extLst>
          </p:cNvPr>
          <p:cNvPicPr>
            <a:picLocks noChangeAspect="1"/>
          </p:cNvPicPr>
          <p:nvPr/>
        </p:nvPicPr>
        <p:blipFill>
          <a:blip r:embed="rId2"/>
          <a:stretch>
            <a:fillRect/>
          </a:stretch>
        </p:blipFill>
        <p:spPr>
          <a:xfrm>
            <a:off x="4547118" y="1210778"/>
            <a:ext cx="9193763" cy="1521941"/>
          </a:xfrm>
          <a:prstGeom prst="rect">
            <a:avLst/>
          </a:prstGeom>
          <a:effectLst>
            <a:glow rad="63500">
              <a:schemeClr val="accent1">
                <a:satMod val="175000"/>
                <a:alpha val="40000"/>
              </a:schemeClr>
            </a:glow>
          </a:effectLst>
        </p:spPr>
      </p:pic>
      <p:pic>
        <p:nvPicPr>
          <p:cNvPr id="5" name="Picture 4">
            <a:extLst>
              <a:ext uri="{FF2B5EF4-FFF2-40B4-BE49-F238E27FC236}">
                <a16:creationId xmlns:a16="http://schemas.microsoft.com/office/drawing/2014/main" id="{D1FE5497-9950-E00D-5EDE-F4EFF99986F9}"/>
              </a:ext>
            </a:extLst>
          </p:cNvPr>
          <p:cNvPicPr>
            <a:picLocks noChangeAspect="1"/>
          </p:cNvPicPr>
          <p:nvPr/>
        </p:nvPicPr>
        <p:blipFill>
          <a:blip r:embed="rId3"/>
          <a:stretch>
            <a:fillRect/>
          </a:stretch>
        </p:blipFill>
        <p:spPr>
          <a:xfrm>
            <a:off x="4459495" y="2991237"/>
            <a:ext cx="9281386" cy="1807304"/>
          </a:xfrm>
          <a:prstGeom prst="rect">
            <a:avLst/>
          </a:prstGeom>
          <a:effectLst>
            <a:glow rad="63500">
              <a:schemeClr val="accent1">
                <a:satMod val="175000"/>
                <a:alpha val="40000"/>
              </a:schemeClr>
            </a:glow>
          </a:effectLst>
        </p:spPr>
      </p:pic>
      <p:pic>
        <p:nvPicPr>
          <p:cNvPr id="7" name="Picture 6">
            <a:extLst>
              <a:ext uri="{FF2B5EF4-FFF2-40B4-BE49-F238E27FC236}">
                <a16:creationId xmlns:a16="http://schemas.microsoft.com/office/drawing/2014/main" id="{14674414-863A-0050-F423-6EE186A9114C}"/>
              </a:ext>
            </a:extLst>
          </p:cNvPr>
          <p:cNvPicPr>
            <a:picLocks noChangeAspect="1"/>
          </p:cNvPicPr>
          <p:nvPr/>
        </p:nvPicPr>
        <p:blipFill>
          <a:blip r:embed="rId4"/>
          <a:stretch>
            <a:fillRect/>
          </a:stretch>
        </p:blipFill>
        <p:spPr>
          <a:xfrm>
            <a:off x="4511776" y="5054519"/>
            <a:ext cx="9176823" cy="1979109"/>
          </a:xfrm>
          <a:prstGeom prst="rect">
            <a:avLst/>
          </a:prstGeom>
          <a:effectLst>
            <a:glow rad="63500">
              <a:schemeClr val="accent1">
                <a:satMod val="175000"/>
                <a:alpha val="40000"/>
              </a:schemeClr>
            </a:glow>
          </a:effectLst>
        </p:spPr>
      </p:pic>
      <p:pic>
        <p:nvPicPr>
          <p:cNvPr id="9" name="Picture 8">
            <a:extLst>
              <a:ext uri="{FF2B5EF4-FFF2-40B4-BE49-F238E27FC236}">
                <a16:creationId xmlns:a16="http://schemas.microsoft.com/office/drawing/2014/main" id="{23404A6D-52CE-9CD5-7EC4-64FE4A588C75}"/>
              </a:ext>
            </a:extLst>
          </p:cNvPr>
          <p:cNvPicPr>
            <a:picLocks noChangeAspect="1"/>
          </p:cNvPicPr>
          <p:nvPr/>
        </p:nvPicPr>
        <p:blipFill>
          <a:blip r:embed="rId5"/>
          <a:stretch>
            <a:fillRect/>
          </a:stretch>
        </p:blipFill>
        <p:spPr>
          <a:xfrm>
            <a:off x="4532096" y="7200900"/>
            <a:ext cx="9313962" cy="2139772"/>
          </a:xfrm>
          <a:prstGeom prst="rect">
            <a:avLst/>
          </a:prstGeom>
          <a:effectLst>
            <a:glow rad="63500">
              <a:schemeClr val="accent1">
                <a:satMod val="175000"/>
                <a:alpha val="40000"/>
              </a:schemeClr>
            </a:glow>
          </a:effectLst>
        </p:spPr>
      </p:pic>
      <p:sp>
        <p:nvSpPr>
          <p:cNvPr id="4" name="مربع نص 3">
            <a:extLst>
              <a:ext uri="{FF2B5EF4-FFF2-40B4-BE49-F238E27FC236}">
                <a16:creationId xmlns:a16="http://schemas.microsoft.com/office/drawing/2014/main" id="{554E0601-CC97-03D4-B947-AEA6B99890DA}"/>
              </a:ext>
            </a:extLst>
          </p:cNvPr>
          <p:cNvSpPr txBox="1"/>
          <p:nvPr/>
        </p:nvSpPr>
        <p:spPr>
          <a:xfrm>
            <a:off x="17068800" y="90297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15</a:t>
            </a:r>
          </a:p>
        </p:txBody>
      </p:sp>
    </p:spTree>
    <p:extLst>
      <p:ext uri="{BB962C8B-B14F-4D97-AF65-F5344CB8AC3E}">
        <p14:creationId xmlns:p14="http://schemas.microsoft.com/office/powerpoint/2010/main" val="3871395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F1D145B8-2F16-5D8C-C9A5-F7A1FD59702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51958AF-7C50-C30A-EC97-302CC946BA55}"/>
              </a:ext>
            </a:extLst>
          </p:cNvPr>
          <p:cNvSpPr txBox="1"/>
          <p:nvPr/>
        </p:nvSpPr>
        <p:spPr>
          <a:xfrm>
            <a:off x="4800600" y="800100"/>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Step 4: Removing Duplicates</a:t>
            </a:r>
          </a:p>
        </p:txBody>
      </p:sp>
      <p:sp>
        <p:nvSpPr>
          <p:cNvPr id="3" name="TextBox 2">
            <a:extLst>
              <a:ext uri="{FF2B5EF4-FFF2-40B4-BE49-F238E27FC236}">
                <a16:creationId xmlns:a16="http://schemas.microsoft.com/office/drawing/2014/main" id="{9DB2E2AD-A59B-2AA6-8CB0-592E4D96C167}"/>
              </a:ext>
            </a:extLst>
          </p:cNvPr>
          <p:cNvSpPr txBox="1"/>
          <p:nvPr/>
        </p:nvSpPr>
        <p:spPr>
          <a:xfrm>
            <a:off x="533400" y="2500372"/>
            <a:ext cx="18059400" cy="6986528"/>
          </a:xfrm>
          <a:prstGeom prst="rect">
            <a:avLst/>
          </a:prstGeom>
          <a:noFill/>
        </p:spPr>
        <p:txBody>
          <a:bodyPr wrap="square">
            <a:spAutoFit/>
          </a:bodyPr>
          <a:lstStyle/>
          <a:p>
            <a:pPr marL="457200" indent="-457200">
              <a:buFont typeface="Arial" panose="020B0604020202020204" pitchFamily="34" charset="0"/>
              <a:buChar char="•"/>
            </a:pPr>
            <a:r>
              <a:rPr lang="en-US" sz="3200" b="1" dirty="0">
                <a:solidFill>
                  <a:schemeClr val="tx2"/>
                </a:solidFill>
              </a:rPr>
              <a:t>Checked the dataset for duplicate records.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Removed exact duplicate rows.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Verified duplicate Order IDs and retained valid records (multiple products in the same order).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Verified duplicate Customer IDs and retained valid records (repeat purchases by the same customer).</a:t>
            </a:r>
            <a:endParaRPr lang="ar-SA" sz="3200" b="1" dirty="0">
              <a:solidFill>
                <a:schemeClr val="tx2"/>
              </a:solidFill>
            </a:endParaRPr>
          </a:p>
          <a:p>
            <a:pPr marL="457200" indent="-457200">
              <a:buFont typeface="Arial" panose="020B0604020202020204" pitchFamily="34" charset="0"/>
              <a:buChar char="•"/>
            </a:pPr>
            <a:endParaRPr lang="ar-SA" sz="3200" b="1" dirty="0">
              <a:solidFill>
                <a:schemeClr val="tx2"/>
              </a:solidFill>
            </a:endParaRPr>
          </a:p>
          <a:p>
            <a:pPr marL="457200" indent="-457200">
              <a:buFont typeface="Arial" panose="020B0604020202020204" pitchFamily="34" charset="0"/>
              <a:buChar char="•"/>
            </a:pPr>
            <a:r>
              <a:rPr lang="en" sz="3200" b="1" dirty="0">
                <a:solidFill>
                  <a:schemeClr val="tx2"/>
                </a:solidFill>
              </a:rPr>
              <a:t>Verified repeated Product IDs for the same products and retained valid records (products appearing in multiple orders).</a:t>
            </a:r>
            <a:endParaRPr lang="ar-EG" sz="3200" b="1" dirty="0">
              <a:solidFill>
                <a:schemeClr val="tx2"/>
              </a:solidFill>
            </a:endParaRPr>
          </a:p>
          <a:p>
            <a:r>
              <a:rPr lang="en-US" sz="3200" b="1" dirty="0">
                <a:solidFill>
                  <a:schemeClr val="tx2"/>
                </a:solidFill>
              </a:rPr>
              <a:t> </a:t>
            </a:r>
          </a:p>
          <a:p>
            <a:pPr marL="457200" indent="-457200">
              <a:buFont typeface="Arial" panose="020B0604020202020204" pitchFamily="34" charset="0"/>
              <a:buChar char="•"/>
            </a:pPr>
            <a:r>
              <a:rPr lang="en-US" sz="3200" b="1" dirty="0">
                <a:solidFill>
                  <a:schemeClr val="tx2"/>
                </a:solidFill>
              </a:rPr>
              <a:t>Maintained data accuracy and integrity. </a:t>
            </a:r>
            <a:endParaRPr lang="ar-EG" sz="3200" b="1" dirty="0">
              <a:solidFill>
                <a:schemeClr val="tx2"/>
              </a:solidFill>
            </a:endParaRPr>
          </a:p>
          <a:p>
            <a:pPr marL="457200" indent="-457200">
              <a:buFont typeface="Arial" panose="020B0604020202020204" pitchFamily="34" charset="0"/>
              <a:buChar char="•"/>
            </a:pPr>
            <a:endParaRPr lang="en-US" sz="3200" b="1" dirty="0">
              <a:solidFill>
                <a:schemeClr val="tx2"/>
              </a:solidFill>
            </a:endParaRPr>
          </a:p>
          <a:p>
            <a:pPr marL="457200" indent="-457200">
              <a:buFont typeface="Arial" panose="020B0604020202020204" pitchFamily="34" charset="0"/>
              <a:buChar char="•"/>
            </a:pPr>
            <a:r>
              <a:rPr lang="en-US" sz="3200" b="1" dirty="0">
                <a:solidFill>
                  <a:schemeClr val="tx2"/>
                </a:solidFill>
              </a:rPr>
              <a:t>Ensured the dataset was reliable and ready for analysis. </a:t>
            </a:r>
          </a:p>
        </p:txBody>
      </p:sp>
      <p:sp>
        <p:nvSpPr>
          <p:cNvPr id="4" name="مربع نص 3">
            <a:extLst>
              <a:ext uri="{FF2B5EF4-FFF2-40B4-BE49-F238E27FC236}">
                <a16:creationId xmlns:a16="http://schemas.microsoft.com/office/drawing/2014/main" id="{0A166F11-1060-0156-63D1-C70A1B452FD0}"/>
              </a:ext>
            </a:extLst>
          </p:cNvPr>
          <p:cNvSpPr txBox="1"/>
          <p:nvPr/>
        </p:nvSpPr>
        <p:spPr>
          <a:xfrm>
            <a:off x="17068800" y="9105900"/>
            <a:ext cx="929912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16</a:t>
            </a:r>
          </a:p>
        </p:txBody>
      </p:sp>
    </p:spTree>
    <p:extLst>
      <p:ext uri="{BB962C8B-B14F-4D97-AF65-F5344CB8AC3E}">
        <p14:creationId xmlns:p14="http://schemas.microsoft.com/office/powerpoint/2010/main" val="3105121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0FFE1A1F-4647-B1C1-F5DA-0EE79298F4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BD30899-3742-2527-79D4-4EE76271CA54}"/>
              </a:ext>
            </a:extLst>
          </p:cNvPr>
          <p:cNvPicPr>
            <a:picLocks noChangeAspect="1"/>
          </p:cNvPicPr>
          <p:nvPr/>
        </p:nvPicPr>
        <p:blipFill>
          <a:blip r:embed="rId2"/>
          <a:stretch>
            <a:fillRect/>
          </a:stretch>
        </p:blipFill>
        <p:spPr>
          <a:xfrm>
            <a:off x="533400" y="715290"/>
            <a:ext cx="6537960" cy="1608810"/>
          </a:xfrm>
          <a:prstGeom prst="rect">
            <a:avLst/>
          </a:prstGeom>
          <a:effectLst>
            <a:glow rad="63500">
              <a:schemeClr val="accent1">
                <a:satMod val="175000"/>
                <a:alpha val="40000"/>
              </a:schemeClr>
            </a:glow>
          </a:effectLst>
        </p:spPr>
      </p:pic>
      <p:pic>
        <p:nvPicPr>
          <p:cNvPr id="5" name="Picture 4">
            <a:extLst>
              <a:ext uri="{FF2B5EF4-FFF2-40B4-BE49-F238E27FC236}">
                <a16:creationId xmlns:a16="http://schemas.microsoft.com/office/drawing/2014/main" id="{22169F9C-F856-8F6D-E8FE-8899BD06E49E}"/>
              </a:ext>
            </a:extLst>
          </p:cNvPr>
          <p:cNvPicPr>
            <a:picLocks noChangeAspect="1"/>
          </p:cNvPicPr>
          <p:nvPr/>
        </p:nvPicPr>
        <p:blipFill>
          <a:blip r:embed="rId3"/>
          <a:stretch>
            <a:fillRect/>
          </a:stretch>
        </p:blipFill>
        <p:spPr>
          <a:xfrm>
            <a:off x="533400" y="2705100"/>
            <a:ext cx="6579838" cy="1524000"/>
          </a:xfrm>
          <a:prstGeom prst="rect">
            <a:avLst/>
          </a:prstGeom>
          <a:effectLst>
            <a:glow rad="63500">
              <a:schemeClr val="accent1">
                <a:satMod val="175000"/>
                <a:alpha val="40000"/>
              </a:schemeClr>
            </a:glow>
          </a:effectLst>
        </p:spPr>
      </p:pic>
      <p:pic>
        <p:nvPicPr>
          <p:cNvPr id="7" name="Picture 6">
            <a:extLst>
              <a:ext uri="{FF2B5EF4-FFF2-40B4-BE49-F238E27FC236}">
                <a16:creationId xmlns:a16="http://schemas.microsoft.com/office/drawing/2014/main" id="{D4FA959A-4ADA-ADAE-C308-ADB1627E2655}"/>
              </a:ext>
            </a:extLst>
          </p:cNvPr>
          <p:cNvPicPr>
            <a:picLocks noChangeAspect="1"/>
          </p:cNvPicPr>
          <p:nvPr/>
        </p:nvPicPr>
        <p:blipFill>
          <a:blip r:embed="rId4"/>
          <a:stretch>
            <a:fillRect/>
          </a:stretch>
        </p:blipFill>
        <p:spPr>
          <a:xfrm>
            <a:off x="533400" y="4746270"/>
            <a:ext cx="6579838" cy="1524000"/>
          </a:xfrm>
          <a:prstGeom prst="rect">
            <a:avLst/>
          </a:prstGeom>
          <a:effectLst>
            <a:glow rad="63500">
              <a:schemeClr val="accent1">
                <a:satMod val="175000"/>
                <a:alpha val="40000"/>
              </a:schemeClr>
            </a:glow>
          </a:effectLst>
        </p:spPr>
      </p:pic>
      <p:pic>
        <p:nvPicPr>
          <p:cNvPr id="9" name="Picture 8">
            <a:extLst>
              <a:ext uri="{FF2B5EF4-FFF2-40B4-BE49-F238E27FC236}">
                <a16:creationId xmlns:a16="http://schemas.microsoft.com/office/drawing/2014/main" id="{43483C33-D67A-9468-6017-23ED4ED91DA4}"/>
              </a:ext>
            </a:extLst>
          </p:cNvPr>
          <p:cNvPicPr>
            <a:picLocks noChangeAspect="1"/>
          </p:cNvPicPr>
          <p:nvPr/>
        </p:nvPicPr>
        <p:blipFill>
          <a:blip r:embed="rId5"/>
          <a:stretch>
            <a:fillRect/>
          </a:stretch>
        </p:blipFill>
        <p:spPr>
          <a:xfrm>
            <a:off x="10148349" y="715290"/>
            <a:ext cx="6015318" cy="1676400"/>
          </a:xfrm>
          <a:prstGeom prst="rect">
            <a:avLst/>
          </a:prstGeom>
          <a:effectLst>
            <a:glow rad="63500">
              <a:schemeClr val="accent1">
                <a:satMod val="175000"/>
                <a:alpha val="40000"/>
              </a:schemeClr>
            </a:glow>
          </a:effectLst>
        </p:spPr>
      </p:pic>
      <p:sp>
        <p:nvSpPr>
          <p:cNvPr id="10" name="Arrow: Down 9">
            <a:extLst>
              <a:ext uri="{FF2B5EF4-FFF2-40B4-BE49-F238E27FC236}">
                <a16:creationId xmlns:a16="http://schemas.microsoft.com/office/drawing/2014/main" id="{ED500AEE-16DE-C9A4-CF81-382393444488}"/>
              </a:ext>
            </a:extLst>
          </p:cNvPr>
          <p:cNvSpPr/>
          <p:nvPr/>
        </p:nvSpPr>
        <p:spPr>
          <a:xfrm rot="16200000">
            <a:off x="8221698" y="2940558"/>
            <a:ext cx="699516" cy="1295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B17C161-F9F3-5A82-2F52-F7E6DD4D6428}"/>
              </a:ext>
            </a:extLst>
          </p:cNvPr>
          <p:cNvPicPr>
            <a:picLocks noChangeAspect="1"/>
          </p:cNvPicPr>
          <p:nvPr/>
        </p:nvPicPr>
        <p:blipFill>
          <a:blip r:embed="rId6"/>
          <a:stretch>
            <a:fillRect/>
          </a:stretch>
        </p:blipFill>
        <p:spPr>
          <a:xfrm>
            <a:off x="10029674" y="3602001"/>
            <a:ext cx="6108593" cy="2745737"/>
          </a:xfrm>
          <a:prstGeom prst="rect">
            <a:avLst/>
          </a:prstGeom>
          <a:effectLst>
            <a:glow rad="63500">
              <a:schemeClr val="accent1">
                <a:satMod val="175000"/>
                <a:alpha val="40000"/>
              </a:schemeClr>
            </a:glow>
          </a:effectLst>
        </p:spPr>
      </p:pic>
      <p:pic>
        <p:nvPicPr>
          <p:cNvPr id="14" name="Picture 13">
            <a:extLst>
              <a:ext uri="{FF2B5EF4-FFF2-40B4-BE49-F238E27FC236}">
                <a16:creationId xmlns:a16="http://schemas.microsoft.com/office/drawing/2014/main" id="{25A5C934-8A91-CB74-F9C7-B41810664CCA}"/>
              </a:ext>
            </a:extLst>
          </p:cNvPr>
          <p:cNvPicPr>
            <a:picLocks noChangeAspect="1"/>
          </p:cNvPicPr>
          <p:nvPr/>
        </p:nvPicPr>
        <p:blipFill>
          <a:blip r:embed="rId7"/>
          <a:stretch>
            <a:fillRect/>
          </a:stretch>
        </p:blipFill>
        <p:spPr>
          <a:xfrm>
            <a:off x="5181600" y="7560589"/>
            <a:ext cx="6160960" cy="1403628"/>
          </a:xfrm>
          <a:prstGeom prst="rect">
            <a:avLst/>
          </a:prstGeom>
          <a:effectLst>
            <a:glow rad="63500">
              <a:schemeClr val="accent1">
                <a:satMod val="175000"/>
                <a:alpha val="40000"/>
              </a:schemeClr>
            </a:glow>
          </a:effectLst>
        </p:spPr>
      </p:pic>
      <p:sp>
        <p:nvSpPr>
          <p:cNvPr id="4" name="مربع نص 3">
            <a:extLst>
              <a:ext uri="{FF2B5EF4-FFF2-40B4-BE49-F238E27FC236}">
                <a16:creationId xmlns:a16="http://schemas.microsoft.com/office/drawing/2014/main" id="{89B718B5-5B95-C781-5530-A94C3C90237B}"/>
              </a:ext>
            </a:extLst>
          </p:cNvPr>
          <p:cNvSpPr txBox="1"/>
          <p:nvPr/>
        </p:nvSpPr>
        <p:spPr>
          <a:xfrm>
            <a:off x="16916400" y="91059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17</a:t>
            </a:r>
          </a:p>
        </p:txBody>
      </p:sp>
    </p:spTree>
    <p:extLst>
      <p:ext uri="{BB962C8B-B14F-4D97-AF65-F5344CB8AC3E}">
        <p14:creationId xmlns:p14="http://schemas.microsoft.com/office/powerpoint/2010/main" val="3934600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F86AACBA-66DA-B3EC-BB20-B0F3A3350D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0D2CE3D-D25C-F655-A0B6-980D7926BBEF}"/>
              </a:ext>
            </a:extLst>
          </p:cNvPr>
          <p:cNvSpPr txBox="1"/>
          <p:nvPr/>
        </p:nvSpPr>
        <p:spPr>
          <a:xfrm>
            <a:off x="-304800" y="1333499"/>
            <a:ext cx="14097000" cy="1304203"/>
          </a:xfrm>
          <a:prstGeom prst="rect">
            <a:avLst/>
          </a:prstGeom>
          <a:noFill/>
        </p:spPr>
        <p:txBody>
          <a:bodyPr wrap="square">
            <a:spAutoFit/>
          </a:bodyPr>
          <a:lstStyle/>
          <a:p>
            <a:pPr algn="r">
              <a:lnSpc>
                <a:spcPts val="10159"/>
              </a:lnSpc>
            </a:pPr>
            <a:r>
              <a:rPr lang="en-US" sz="6000" b="1" dirty="0">
                <a:solidFill>
                  <a:srgbClr val="002060"/>
                </a:solidFill>
                <a:highlight>
                  <a:srgbClr val="C0C0C0"/>
                </a:highlight>
                <a:latin typeface="League Spartan"/>
                <a:ea typeface="League Spartan"/>
                <a:cs typeface="League Spartan"/>
                <a:sym typeface="League Spartan"/>
              </a:rPr>
              <a:t>Exploratory Data Analysis(EDA)</a:t>
            </a:r>
          </a:p>
        </p:txBody>
      </p:sp>
      <p:sp>
        <p:nvSpPr>
          <p:cNvPr id="6" name="TextBox 5">
            <a:extLst>
              <a:ext uri="{FF2B5EF4-FFF2-40B4-BE49-F238E27FC236}">
                <a16:creationId xmlns:a16="http://schemas.microsoft.com/office/drawing/2014/main" id="{F1238529-FA39-D2D8-BD75-996D7D0D6447}"/>
              </a:ext>
            </a:extLst>
          </p:cNvPr>
          <p:cNvSpPr txBox="1"/>
          <p:nvPr/>
        </p:nvSpPr>
        <p:spPr>
          <a:xfrm>
            <a:off x="533400" y="6134100"/>
            <a:ext cx="17602200" cy="2607317"/>
          </a:xfrm>
          <a:prstGeom prst="rect">
            <a:avLst/>
          </a:prstGeom>
          <a:noFill/>
        </p:spPr>
        <p:txBody>
          <a:bodyPr wrap="square">
            <a:spAutoFit/>
          </a:bodyPr>
          <a:lstStyle/>
          <a:p>
            <a:pPr marL="388624" lvl="1" algn="ctr">
              <a:lnSpc>
                <a:spcPts val="5040"/>
              </a:lnSpc>
            </a:pPr>
            <a:r>
              <a:rPr lang="en-US" sz="3600" b="1" dirty="0">
                <a:solidFill>
                  <a:srgbClr val="1B3A62"/>
                </a:solidFill>
                <a:latin typeface="Inter Bold"/>
                <a:ea typeface="Inter Bold"/>
                <a:cs typeface="Inter Bold"/>
                <a:sym typeface="Inter Bold"/>
              </a:rPr>
              <a:t>The data analysis phase was conducted to explore the dataset, identify trends and patterns, evaluate sales performance across different dimensions, and generate actionable business insights. This step also helped define the KPIs and visualizations used in the final Tableau dashboard</a:t>
            </a:r>
          </a:p>
        </p:txBody>
      </p:sp>
      <p:pic>
        <p:nvPicPr>
          <p:cNvPr id="3" name="Graphic 2" descr="Questions outline">
            <a:extLst>
              <a:ext uri="{FF2B5EF4-FFF2-40B4-BE49-F238E27FC236}">
                <a16:creationId xmlns:a16="http://schemas.microsoft.com/office/drawing/2014/main" id="{19F80A13-B639-EB16-55E3-3F4A5B7C49A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706600" y="978484"/>
            <a:ext cx="2133600" cy="2133600"/>
          </a:xfrm>
          <a:prstGeom prst="rect">
            <a:avLst/>
          </a:prstGeom>
        </p:spPr>
      </p:pic>
      <p:sp>
        <p:nvSpPr>
          <p:cNvPr id="5" name="مربع نص 4">
            <a:extLst>
              <a:ext uri="{FF2B5EF4-FFF2-40B4-BE49-F238E27FC236}">
                <a16:creationId xmlns:a16="http://schemas.microsoft.com/office/drawing/2014/main" id="{1F03203A-6EEC-5770-3FFD-07C16B267B99}"/>
              </a:ext>
            </a:extLst>
          </p:cNvPr>
          <p:cNvSpPr txBox="1"/>
          <p:nvPr/>
        </p:nvSpPr>
        <p:spPr>
          <a:xfrm>
            <a:off x="7620000" y="4420225"/>
            <a:ext cx="9692640" cy="1446550"/>
          </a:xfrm>
          <a:prstGeom prst="rect">
            <a:avLst/>
          </a:prstGeom>
          <a:noFill/>
        </p:spPr>
        <p:txBody>
          <a:bodyPr wrap="square">
            <a:spAutoFit/>
          </a:bodyPr>
          <a:lstStyle/>
          <a:p>
            <a:r>
              <a:rPr lang="en-US" sz="8800" b="1" dirty="0">
                <a:solidFill>
                  <a:schemeClr val="tx2"/>
                </a:solidFill>
                <a:latin typeface="Arial Rounded MT Bold" panose="020F0704030504030204" pitchFamily="34" charset="0"/>
                <a:ea typeface="HGMaruGothicMPRO" panose="020F0600000000000000" pitchFamily="34" charset="-128"/>
                <a:cs typeface="Arial Hebrew Scholar" pitchFamily="2" charset="-79"/>
              </a:rPr>
              <a:t>Why</a:t>
            </a:r>
            <a:r>
              <a:rPr lang="en-US" sz="8800" b="1" dirty="0">
                <a:solidFill>
                  <a:srgbClr val="FF0000"/>
                </a:solidFill>
                <a:latin typeface="Arial Rounded MT Bold" panose="020F0704030504030204" pitchFamily="34" charset="0"/>
                <a:ea typeface="HGMaruGothicMPRO" panose="020F0600000000000000" pitchFamily="34" charset="-128"/>
                <a:cs typeface="Arial Hebrew Scholar" pitchFamily="2" charset="-79"/>
              </a:rPr>
              <a:t>?</a:t>
            </a:r>
          </a:p>
        </p:txBody>
      </p:sp>
      <p:sp>
        <p:nvSpPr>
          <p:cNvPr id="7" name="مربع نص 6">
            <a:extLst>
              <a:ext uri="{FF2B5EF4-FFF2-40B4-BE49-F238E27FC236}">
                <a16:creationId xmlns:a16="http://schemas.microsoft.com/office/drawing/2014/main" id="{546C73BF-F870-DAB6-5CBC-E2F4DCB492DA}"/>
              </a:ext>
            </a:extLst>
          </p:cNvPr>
          <p:cNvSpPr txBox="1"/>
          <p:nvPr/>
        </p:nvSpPr>
        <p:spPr>
          <a:xfrm>
            <a:off x="17068800" y="9234583"/>
            <a:ext cx="931545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18</a:t>
            </a:r>
          </a:p>
        </p:txBody>
      </p:sp>
    </p:spTree>
    <p:extLst>
      <p:ext uri="{BB962C8B-B14F-4D97-AF65-F5344CB8AC3E}">
        <p14:creationId xmlns:p14="http://schemas.microsoft.com/office/powerpoint/2010/main" val="2826059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46D70F5F-26DF-7AD1-D03E-0B4B025064A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2D464AB-A6B3-E331-D103-2509B5B6FD36}"/>
              </a:ext>
            </a:extLst>
          </p:cNvPr>
          <p:cNvSpPr txBox="1"/>
          <p:nvPr/>
        </p:nvSpPr>
        <p:spPr>
          <a:xfrm>
            <a:off x="6214994" y="1192921"/>
            <a:ext cx="10017888" cy="733534"/>
          </a:xfrm>
          <a:prstGeom prst="rect">
            <a:avLst/>
          </a:prstGeom>
          <a:noFill/>
        </p:spPr>
        <p:txBody>
          <a:bodyPr wrap="square">
            <a:spAutoFit/>
          </a:bodyPr>
          <a:lstStyle/>
          <a:p>
            <a:pPr marL="388624" lvl="1">
              <a:lnSpc>
                <a:spcPts val="5040"/>
              </a:lnSpc>
            </a:pPr>
            <a:r>
              <a:rPr lang="en-US" sz="4400" b="1" dirty="0">
                <a:solidFill>
                  <a:srgbClr val="1B3A62"/>
                </a:solidFill>
                <a:highlight>
                  <a:srgbClr val="C0C0C0"/>
                </a:highlight>
                <a:latin typeface="Inter Bold"/>
                <a:ea typeface="Inter Bold"/>
                <a:cs typeface="Inter Bold"/>
                <a:sym typeface="Inter Bold"/>
              </a:rPr>
              <a:t>Analysis Overview</a:t>
            </a:r>
          </a:p>
        </p:txBody>
      </p:sp>
      <p:sp>
        <p:nvSpPr>
          <p:cNvPr id="10" name="TextBox 9">
            <a:extLst>
              <a:ext uri="{FF2B5EF4-FFF2-40B4-BE49-F238E27FC236}">
                <a16:creationId xmlns:a16="http://schemas.microsoft.com/office/drawing/2014/main" id="{C543C2AA-40FB-C760-D8FE-F199C9AB4606}"/>
              </a:ext>
            </a:extLst>
          </p:cNvPr>
          <p:cNvSpPr txBox="1"/>
          <p:nvPr/>
        </p:nvSpPr>
        <p:spPr>
          <a:xfrm>
            <a:off x="5741788" y="3414574"/>
            <a:ext cx="473206" cy="2308324"/>
          </a:xfrm>
          <a:prstGeom prst="rect">
            <a:avLst/>
          </a:prstGeom>
          <a:noFill/>
        </p:spPr>
        <p:txBody>
          <a:bodyPr wrap="none" rtlCol="0">
            <a:spAutoFit/>
          </a:bodyPr>
          <a:lstStyle/>
          <a:p>
            <a:pPr algn="just"/>
            <a:endParaRPr lang="en-US" sz="3600" b="1" dirty="0">
              <a:solidFill>
                <a:schemeClr val="tx2"/>
              </a:solidFill>
            </a:endParaRPr>
          </a:p>
          <a:p>
            <a:pPr algn="just"/>
            <a:endParaRPr lang="en-US" sz="3600" b="1" dirty="0">
              <a:solidFill>
                <a:schemeClr val="tx2"/>
              </a:solidFill>
            </a:endParaRPr>
          </a:p>
          <a:p>
            <a:pPr marL="285750" indent="-285750" algn="just">
              <a:buFont typeface="Arial" panose="020B0604020202020204" pitchFamily="34" charset="0"/>
              <a:buChar char="•"/>
            </a:pPr>
            <a:endParaRPr lang="en-US" sz="3600" b="1" dirty="0">
              <a:solidFill>
                <a:schemeClr val="tx2"/>
              </a:solidFill>
            </a:endParaRPr>
          </a:p>
          <a:p>
            <a:pPr marL="285750" indent="-285750" algn="just">
              <a:buFont typeface="Arial" panose="020B0604020202020204" pitchFamily="34" charset="0"/>
              <a:buChar char="•"/>
            </a:pPr>
            <a:endParaRPr lang="en-US" sz="3600" b="1" dirty="0">
              <a:solidFill>
                <a:schemeClr val="tx2"/>
              </a:solidFill>
            </a:endParaRPr>
          </a:p>
        </p:txBody>
      </p:sp>
      <p:sp>
        <p:nvSpPr>
          <p:cNvPr id="4" name="Rectangle: Rounded Corners 3">
            <a:extLst>
              <a:ext uri="{FF2B5EF4-FFF2-40B4-BE49-F238E27FC236}">
                <a16:creationId xmlns:a16="http://schemas.microsoft.com/office/drawing/2014/main" id="{7B25DF27-6024-61B9-C949-DEAE5A2AE8B7}"/>
              </a:ext>
            </a:extLst>
          </p:cNvPr>
          <p:cNvSpPr/>
          <p:nvPr/>
        </p:nvSpPr>
        <p:spPr>
          <a:xfrm>
            <a:off x="381000" y="3409131"/>
            <a:ext cx="72390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nSpc>
                <a:spcPts val="5040"/>
              </a:lnSpc>
            </a:pPr>
            <a:r>
              <a:rPr lang="en-US" sz="3600" b="1" dirty="0">
                <a:solidFill>
                  <a:schemeClr val="bg2"/>
                </a:solidFill>
                <a:latin typeface="Inter Bold"/>
                <a:ea typeface="Inter Bold"/>
                <a:cs typeface="Inter Bold"/>
                <a:sym typeface="Inter Bold"/>
              </a:rPr>
              <a:t>Customers &amp; Orders Analysis</a:t>
            </a:r>
          </a:p>
        </p:txBody>
      </p:sp>
      <p:sp>
        <p:nvSpPr>
          <p:cNvPr id="5" name="Rectangle: Rounded Corners 4">
            <a:extLst>
              <a:ext uri="{FF2B5EF4-FFF2-40B4-BE49-F238E27FC236}">
                <a16:creationId xmlns:a16="http://schemas.microsoft.com/office/drawing/2014/main" id="{99ECCFB7-2325-5954-A66F-5C381CC5BB9B}"/>
              </a:ext>
            </a:extLst>
          </p:cNvPr>
          <p:cNvSpPr/>
          <p:nvPr/>
        </p:nvSpPr>
        <p:spPr>
          <a:xfrm>
            <a:off x="10972800" y="6979449"/>
            <a:ext cx="60960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nSpc>
                <a:spcPts val="5040"/>
              </a:lnSpc>
            </a:pPr>
            <a:r>
              <a:rPr lang="en-US" sz="3600" b="1" dirty="0">
                <a:solidFill>
                  <a:schemeClr val="tx2"/>
                </a:solidFill>
                <a:latin typeface="Inter Bold"/>
                <a:ea typeface="Inter Bold"/>
                <a:cs typeface="Inter Bold"/>
                <a:sym typeface="Inter Bold"/>
              </a:rPr>
              <a:t>    </a:t>
            </a:r>
            <a:r>
              <a:rPr lang="en-US" sz="3600" b="1" dirty="0">
                <a:solidFill>
                  <a:schemeClr val="bg2"/>
                </a:solidFill>
                <a:latin typeface="Inter Bold"/>
                <a:ea typeface="Inter Bold"/>
                <a:cs typeface="Inter Bold"/>
                <a:sym typeface="Inter Bold"/>
              </a:rPr>
              <a:t>Products Analysis</a:t>
            </a:r>
          </a:p>
        </p:txBody>
      </p:sp>
      <p:sp>
        <p:nvSpPr>
          <p:cNvPr id="6" name="Rectangle: Rounded Corners 5">
            <a:extLst>
              <a:ext uri="{FF2B5EF4-FFF2-40B4-BE49-F238E27FC236}">
                <a16:creationId xmlns:a16="http://schemas.microsoft.com/office/drawing/2014/main" id="{0E7151C9-D8CB-827D-CE78-2DC109D6A034}"/>
              </a:ext>
            </a:extLst>
          </p:cNvPr>
          <p:cNvSpPr/>
          <p:nvPr/>
        </p:nvSpPr>
        <p:spPr>
          <a:xfrm>
            <a:off x="544286" y="6743700"/>
            <a:ext cx="60960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nSpc>
                <a:spcPts val="5040"/>
              </a:lnSpc>
            </a:pPr>
            <a:r>
              <a:rPr lang="en-US" sz="3600" b="1" dirty="0">
                <a:solidFill>
                  <a:schemeClr val="tx2"/>
                </a:solidFill>
                <a:latin typeface="Inter Bold"/>
                <a:ea typeface="Inter Bold"/>
                <a:cs typeface="Inter Bold"/>
                <a:sym typeface="Inter Bold"/>
              </a:rPr>
              <a:t>      </a:t>
            </a:r>
            <a:r>
              <a:rPr lang="en-US" sz="3600" b="1" dirty="0">
                <a:solidFill>
                  <a:schemeClr val="bg2"/>
                </a:solidFill>
                <a:latin typeface="Inter Bold"/>
                <a:ea typeface="Inter Bold"/>
                <a:cs typeface="Inter Bold"/>
                <a:sym typeface="Inter Bold"/>
              </a:rPr>
              <a:t>Sales Analysis</a:t>
            </a:r>
          </a:p>
        </p:txBody>
      </p:sp>
      <p:sp>
        <p:nvSpPr>
          <p:cNvPr id="2" name="Rectangle: Rounded Corners 4">
            <a:extLst>
              <a:ext uri="{FF2B5EF4-FFF2-40B4-BE49-F238E27FC236}">
                <a16:creationId xmlns:a16="http://schemas.microsoft.com/office/drawing/2014/main" id="{4C4DDFE1-9501-F8B2-8C84-6C937EB205E9}"/>
              </a:ext>
            </a:extLst>
          </p:cNvPr>
          <p:cNvSpPr/>
          <p:nvPr/>
        </p:nvSpPr>
        <p:spPr>
          <a:xfrm>
            <a:off x="10972800" y="3354506"/>
            <a:ext cx="60960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88624" lvl="1">
              <a:lnSpc>
                <a:spcPts val="5040"/>
              </a:lnSpc>
            </a:pPr>
            <a:r>
              <a:rPr lang="en-US" sz="3600" b="1" dirty="0">
                <a:solidFill>
                  <a:schemeClr val="bg1">
                    <a:lumMod val="85000"/>
                  </a:schemeClr>
                </a:solidFill>
                <a:latin typeface="Inter Bold"/>
                <a:ea typeface="Inter Bold"/>
                <a:cs typeface="Inter Bold"/>
                <a:sym typeface="Inter Bold"/>
              </a:rPr>
              <a:t>Shipping analysis</a:t>
            </a:r>
          </a:p>
        </p:txBody>
      </p:sp>
      <p:sp>
        <p:nvSpPr>
          <p:cNvPr id="7" name="مربع نص 6">
            <a:extLst>
              <a:ext uri="{FF2B5EF4-FFF2-40B4-BE49-F238E27FC236}">
                <a16:creationId xmlns:a16="http://schemas.microsoft.com/office/drawing/2014/main" id="{F060D841-D87C-FD32-4022-254E2D318E2A}"/>
              </a:ext>
            </a:extLst>
          </p:cNvPr>
          <p:cNvSpPr txBox="1"/>
          <p:nvPr/>
        </p:nvSpPr>
        <p:spPr>
          <a:xfrm>
            <a:off x="16916400" y="91059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19</a:t>
            </a:r>
          </a:p>
        </p:txBody>
      </p:sp>
    </p:spTree>
    <p:extLst>
      <p:ext uri="{BB962C8B-B14F-4D97-AF65-F5344CB8AC3E}">
        <p14:creationId xmlns:p14="http://schemas.microsoft.com/office/powerpoint/2010/main" val="3939209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C2A53F41-7215-96B7-FD9E-0E61B634BE8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F855B98-5128-3964-232E-018235A5D00A}"/>
              </a:ext>
            </a:extLst>
          </p:cNvPr>
          <p:cNvSpPr txBox="1"/>
          <p:nvPr/>
        </p:nvSpPr>
        <p:spPr>
          <a:xfrm>
            <a:off x="0" y="266700"/>
            <a:ext cx="10017888" cy="733534"/>
          </a:xfrm>
          <a:prstGeom prst="rect">
            <a:avLst/>
          </a:prstGeom>
          <a:noFill/>
        </p:spPr>
        <p:txBody>
          <a:bodyPr wrap="square">
            <a:spAutoFit/>
          </a:bodyPr>
          <a:lstStyle/>
          <a:p>
            <a:pPr marL="388624" lvl="1">
              <a:lnSpc>
                <a:spcPts val="5040"/>
              </a:lnSpc>
            </a:pPr>
            <a:r>
              <a:rPr lang="en-US" sz="4400" b="1" dirty="0">
                <a:solidFill>
                  <a:srgbClr val="1B3A62"/>
                </a:solidFill>
                <a:highlight>
                  <a:srgbClr val="C0C0C0"/>
                </a:highlight>
                <a:latin typeface="Inter Bold"/>
                <a:ea typeface="Inter Bold"/>
                <a:cs typeface="Inter Bold"/>
                <a:sym typeface="Inter Bold"/>
              </a:rPr>
              <a:t>Analysis Questions</a:t>
            </a:r>
          </a:p>
        </p:txBody>
      </p:sp>
      <p:sp>
        <p:nvSpPr>
          <p:cNvPr id="9" name="TextBox 8">
            <a:extLst>
              <a:ext uri="{FF2B5EF4-FFF2-40B4-BE49-F238E27FC236}">
                <a16:creationId xmlns:a16="http://schemas.microsoft.com/office/drawing/2014/main" id="{5A3A640E-E26D-31E8-2A68-FEACB117EEC9}"/>
              </a:ext>
            </a:extLst>
          </p:cNvPr>
          <p:cNvSpPr txBox="1"/>
          <p:nvPr/>
        </p:nvSpPr>
        <p:spPr>
          <a:xfrm>
            <a:off x="5445888" y="1842687"/>
            <a:ext cx="9144000" cy="683713"/>
          </a:xfrm>
          <a:prstGeom prst="rect">
            <a:avLst/>
          </a:prstGeom>
          <a:noFill/>
        </p:spPr>
        <p:txBody>
          <a:bodyPr wrap="square">
            <a:spAutoFit/>
          </a:bodyPr>
          <a:lstStyle/>
          <a:p>
            <a:pPr marL="388624" lvl="1">
              <a:lnSpc>
                <a:spcPts val="5040"/>
              </a:lnSpc>
            </a:pPr>
            <a:r>
              <a:rPr lang="en-US" sz="3600" b="1" dirty="0">
                <a:solidFill>
                  <a:srgbClr val="1B3A62"/>
                </a:solidFill>
                <a:latin typeface="Inter Bold"/>
                <a:ea typeface="Inter Bold"/>
                <a:cs typeface="Inter Bold"/>
                <a:sym typeface="Inter Bold"/>
              </a:rPr>
              <a:t>Customers &amp; Orders Analysis</a:t>
            </a:r>
          </a:p>
        </p:txBody>
      </p:sp>
      <p:sp>
        <p:nvSpPr>
          <p:cNvPr id="10" name="TextBox 9">
            <a:extLst>
              <a:ext uri="{FF2B5EF4-FFF2-40B4-BE49-F238E27FC236}">
                <a16:creationId xmlns:a16="http://schemas.microsoft.com/office/drawing/2014/main" id="{B5F78C14-4DEB-61A8-C881-7C19BE1EADF1}"/>
              </a:ext>
            </a:extLst>
          </p:cNvPr>
          <p:cNvSpPr txBox="1"/>
          <p:nvPr/>
        </p:nvSpPr>
        <p:spPr>
          <a:xfrm>
            <a:off x="457200" y="3771900"/>
            <a:ext cx="11032764" cy="7294305"/>
          </a:xfrm>
          <a:prstGeom prst="rect">
            <a:avLst/>
          </a:prstGeom>
          <a:noFill/>
        </p:spPr>
        <p:txBody>
          <a:bodyPr wrap="none" rtlCol="0">
            <a:spAutoFit/>
          </a:bodyPr>
          <a:lstStyle/>
          <a:p>
            <a:pPr marL="285750" indent="-285750" algn="just">
              <a:buFont typeface="Arial" panose="020B0604020202020204" pitchFamily="34" charset="0"/>
              <a:buChar char="•"/>
            </a:pPr>
            <a:r>
              <a:rPr lang="en-US" sz="3600" b="1" dirty="0">
                <a:solidFill>
                  <a:schemeClr val="tx2"/>
                </a:solidFill>
              </a:rPr>
              <a:t>Top 10 customers by num of orders( Loyalty customers)</a:t>
            </a:r>
          </a:p>
          <a:p>
            <a:pPr marL="285750" indent="-285750" algn="just">
              <a:buFont typeface="Arial" panose="020B0604020202020204" pitchFamily="34" charset="0"/>
              <a:buChar char="•"/>
            </a:pPr>
            <a:endParaRPr lang="en-US" sz="3600" b="1" dirty="0">
              <a:solidFill>
                <a:schemeClr val="tx2"/>
              </a:solidFill>
            </a:endParaRPr>
          </a:p>
          <a:p>
            <a:pPr marL="285750" indent="-285750" algn="just">
              <a:buFont typeface="Arial" panose="020B0604020202020204" pitchFamily="34" charset="0"/>
              <a:buChar char="•"/>
            </a:pPr>
            <a:r>
              <a:rPr lang="en-US" sz="3600" b="1" dirty="0">
                <a:solidFill>
                  <a:schemeClr val="tx2"/>
                </a:solidFill>
              </a:rPr>
              <a:t>Segment Performance by Sales, Profit</a:t>
            </a:r>
          </a:p>
          <a:p>
            <a:pPr marL="285750" indent="-285750" algn="just">
              <a:buFont typeface="Arial" panose="020B0604020202020204" pitchFamily="34" charset="0"/>
              <a:buChar char="•"/>
            </a:pPr>
            <a:endParaRPr lang="en-US" sz="3600" b="1" dirty="0">
              <a:solidFill>
                <a:schemeClr val="tx2"/>
              </a:solidFill>
            </a:endParaRPr>
          </a:p>
          <a:p>
            <a:pPr marL="285750" indent="-285750" algn="just">
              <a:buFont typeface="Arial" panose="020B0604020202020204" pitchFamily="34" charset="0"/>
              <a:buChar char="•"/>
            </a:pPr>
            <a:r>
              <a:rPr lang="en-US" sz="3600" b="1" dirty="0">
                <a:solidFill>
                  <a:schemeClr val="tx2"/>
                </a:solidFill>
              </a:rPr>
              <a:t>Num of orders per Segment</a:t>
            </a:r>
          </a:p>
          <a:p>
            <a:pPr algn="just"/>
            <a:endParaRPr lang="en-US" sz="3600" b="1" dirty="0">
              <a:solidFill>
                <a:schemeClr val="tx2"/>
              </a:solidFill>
            </a:endParaRPr>
          </a:p>
          <a:p>
            <a:pPr marL="285750" indent="-285750" algn="just">
              <a:buFont typeface="Arial" panose="020B0604020202020204" pitchFamily="34" charset="0"/>
              <a:buChar char="•"/>
            </a:pPr>
            <a:r>
              <a:rPr lang="en-US" sz="3600" b="1" dirty="0">
                <a:solidFill>
                  <a:schemeClr val="tx2"/>
                </a:solidFill>
              </a:rPr>
              <a:t>Ship Mode Performance</a:t>
            </a:r>
          </a:p>
          <a:p>
            <a:pPr marL="285750" indent="-285750" algn="just">
              <a:buFont typeface="Arial" panose="020B0604020202020204" pitchFamily="34" charset="0"/>
              <a:buChar char="•"/>
            </a:pPr>
            <a:endParaRPr lang="en-US" sz="3600" b="1" dirty="0">
              <a:solidFill>
                <a:schemeClr val="tx2"/>
              </a:solidFill>
            </a:endParaRPr>
          </a:p>
          <a:p>
            <a:pPr marL="285750" indent="-285750" algn="just">
              <a:buFont typeface="Arial" panose="020B0604020202020204" pitchFamily="34" charset="0"/>
              <a:buChar char="•"/>
            </a:pPr>
            <a:r>
              <a:rPr lang="en-US" sz="3600" b="1" dirty="0">
                <a:solidFill>
                  <a:schemeClr val="tx2"/>
                </a:solidFill>
              </a:rPr>
              <a:t>Orders per Regions</a:t>
            </a:r>
          </a:p>
          <a:p>
            <a:pPr marL="285750" indent="-285750" algn="just">
              <a:buFont typeface="Arial" panose="020B0604020202020204" pitchFamily="34" charset="0"/>
              <a:buChar char="•"/>
            </a:pPr>
            <a:endParaRPr lang="en-US" sz="3600" b="1" dirty="0">
              <a:solidFill>
                <a:schemeClr val="tx2"/>
              </a:solidFill>
            </a:endParaRPr>
          </a:p>
          <a:p>
            <a:pPr algn="just"/>
            <a:endParaRPr lang="en-US" sz="3600" b="1" dirty="0">
              <a:solidFill>
                <a:schemeClr val="tx2"/>
              </a:solidFill>
            </a:endParaRPr>
          </a:p>
          <a:p>
            <a:pPr marL="285750" indent="-285750" algn="just">
              <a:buFont typeface="Arial" panose="020B0604020202020204" pitchFamily="34" charset="0"/>
              <a:buChar char="•"/>
            </a:pPr>
            <a:endParaRPr lang="en-US" sz="3600" b="1" dirty="0">
              <a:solidFill>
                <a:schemeClr val="tx2"/>
              </a:solidFill>
            </a:endParaRPr>
          </a:p>
          <a:p>
            <a:pPr marL="285750" indent="-285750" algn="just">
              <a:buFont typeface="Arial" panose="020B0604020202020204" pitchFamily="34" charset="0"/>
              <a:buChar char="•"/>
            </a:pPr>
            <a:endParaRPr lang="en-US" sz="3600" b="1" dirty="0">
              <a:solidFill>
                <a:schemeClr val="tx2"/>
              </a:solidFill>
            </a:endParaRPr>
          </a:p>
        </p:txBody>
      </p:sp>
      <p:sp>
        <p:nvSpPr>
          <p:cNvPr id="3" name="مربع نص 2">
            <a:extLst>
              <a:ext uri="{FF2B5EF4-FFF2-40B4-BE49-F238E27FC236}">
                <a16:creationId xmlns:a16="http://schemas.microsoft.com/office/drawing/2014/main" id="{C10207A5-A687-B63B-332A-5E7A226E678D}"/>
              </a:ext>
            </a:extLst>
          </p:cNvPr>
          <p:cNvSpPr txBox="1"/>
          <p:nvPr/>
        </p:nvSpPr>
        <p:spPr>
          <a:xfrm>
            <a:off x="16687800" y="91059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20</a:t>
            </a:r>
          </a:p>
        </p:txBody>
      </p:sp>
    </p:spTree>
    <p:extLst>
      <p:ext uri="{BB962C8B-B14F-4D97-AF65-F5344CB8AC3E}">
        <p14:creationId xmlns:p14="http://schemas.microsoft.com/office/powerpoint/2010/main" val="2796467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BC974901-B508-54D6-1B87-2B75FBDCC490}"/>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480E0789-607E-47B7-A880-5D1F05101F67}"/>
              </a:ext>
            </a:extLst>
          </p:cNvPr>
          <p:cNvSpPr txBox="1"/>
          <p:nvPr/>
        </p:nvSpPr>
        <p:spPr>
          <a:xfrm>
            <a:off x="5105400" y="886801"/>
            <a:ext cx="9144000" cy="523220"/>
          </a:xfrm>
          <a:prstGeom prst="rect">
            <a:avLst/>
          </a:prstGeom>
          <a:noFill/>
        </p:spPr>
        <p:txBody>
          <a:bodyPr wrap="square">
            <a:spAutoFit/>
          </a:bodyPr>
          <a:lstStyle/>
          <a:p>
            <a:pPr algn="just"/>
            <a:r>
              <a:rPr lang="en-US" sz="2800" b="1" dirty="0">
                <a:solidFill>
                  <a:schemeClr val="tx2"/>
                </a:solidFill>
              </a:rPr>
              <a:t>Top 10 customers by num of orders( Loyalty customers)</a:t>
            </a:r>
          </a:p>
        </p:txBody>
      </p:sp>
      <p:pic>
        <p:nvPicPr>
          <p:cNvPr id="4" name="صورة 3">
            <a:extLst>
              <a:ext uri="{FF2B5EF4-FFF2-40B4-BE49-F238E27FC236}">
                <a16:creationId xmlns:a16="http://schemas.microsoft.com/office/drawing/2014/main" id="{35DB97B0-F26C-E8A2-FBFB-475930BE5FF5}"/>
              </a:ext>
            </a:extLst>
          </p:cNvPr>
          <p:cNvPicPr>
            <a:picLocks noChangeAspect="1"/>
          </p:cNvPicPr>
          <p:nvPr/>
        </p:nvPicPr>
        <p:blipFill>
          <a:blip r:embed="rId2"/>
          <a:stretch>
            <a:fillRect/>
          </a:stretch>
        </p:blipFill>
        <p:spPr>
          <a:xfrm>
            <a:off x="9448800" y="2247900"/>
            <a:ext cx="7772400" cy="7006697"/>
          </a:xfrm>
          <a:prstGeom prst="rect">
            <a:avLst/>
          </a:prstGeom>
          <a:effectLst>
            <a:glow rad="63500">
              <a:schemeClr val="accent1">
                <a:satMod val="175000"/>
                <a:alpha val="40000"/>
              </a:schemeClr>
            </a:glow>
          </a:effectLst>
        </p:spPr>
      </p:pic>
      <p:pic>
        <p:nvPicPr>
          <p:cNvPr id="6" name="صورة 5">
            <a:extLst>
              <a:ext uri="{FF2B5EF4-FFF2-40B4-BE49-F238E27FC236}">
                <a16:creationId xmlns:a16="http://schemas.microsoft.com/office/drawing/2014/main" id="{816A4F68-6A21-2D57-87FB-5D21FD11074C}"/>
              </a:ext>
            </a:extLst>
          </p:cNvPr>
          <p:cNvPicPr>
            <a:picLocks noChangeAspect="1"/>
          </p:cNvPicPr>
          <p:nvPr/>
        </p:nvPicPr>
        <p:blipFill>
          <a:blip r:embed="rId3"/>
          <a:stretch>
            <a:fillRect/>
          </a:stretch>
        </p:blipFill>
        <p:spPr>
          <a:xfrm>
            <a:off x="380999" y="2501066"/>
            <a:ext cx="7772400" cy="5490251"/>
          </a:xfrm>
          <a:prstGeom prst="rect">
            <a:avLst/>
          </a:prstGeom>
          <a:effectLst>
            <a:glow rad="63500">
              <a:schemeClr val="accent1">
                <a:satMod val="175000"/>
                <a:alpha val="40000"/>
              </a:schemeClr>
            </a:glow>
          </a:effectLst>
        </p:spPr>
      </p:pic>
      <p:pic>
        <p:nvPicPr>
          <p:cNvPr id="7" name="Picture 6">
            <a:extLst>
              <a:ext uri="{FF2B5EF4-FFF2-40B4-BE49-F238E27FC236}">
                <a16:creationId xmlns:a16="http://schemas.microsoft.com/office/drawing/2014/main" id="{61FCAFC7-50DA-AD73-0E53-7C3365D34A36}"/>
              </a:ext>
            </a:extLst>
          </p:cNvPr>
          <p:cNvPicPr>
            <a:picLocks noChangeAspect="1"/>
          </p:cNvPicPr>
          <p:nvPr/>
        </p:nvPicPr>
        <p:blipFill>
          <a:blip r:embed="rId4"/>
          <a:stretch>
            <a:fillRect/>
          </a:stretch>
        </p:blipFill>
        <p:spPr>
          <a:xfrm>
            <a:off x="4712388" y="5246191"/>
            <a:ext cx="4088711" cy="4262084"/>
          </a:xfrm>
          <a:prstGeom prst="rect">
            <a:avLst/>
          </a:prstGeom>
          <a:ln>
            <a:solidFill>
              <a:schemeClr val="accent1"/>
            </a:solidFill>
          </a:ln>
          <a:effectLst>
            <a:glow rad="63500">
              <a:schemeClr val="accent1">
                <a:satMod val="175000"/>
                <a:alpha val="40000"/>
              </a:schemeClr>
            </a:glow>
          </a:effectLst>
        </p:spPr>
      </p:pic>
      <p:sp>
        <p:nvSpPr>
          <p:cNvPr id="9" name="مربع نص 8">
            <a:extLst>
              <a:ext uri="{FF2B5EF4-FFF2-40B4-BE49-F238E27FC236}">
                <a16:creationId xmlns:a16="http://schemas.microsoft.com/office/drawing/2014/main" id="{57069E5C-3E31-92AB-D005-1509B5923D08}"/>
              </a:ext>
            </a:extLst>
          </p:cNvPr>
          <p:cNvSpPr txBox="1"/>
          <p:nvPr/>
        </p:nvSpPr>
        <p:spPr>
          <a:xfrm>
            <a:off x="16992600" y="9078159"/>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21</a:t>
            </a:r>
          </a:p>
        </p:txBody>
      </p:sp>
    </p:spTree>
    <p:extLst>
      <p:ext uri="{BB962C8B-B14F-4D97-AF65-F5344CB8AC3E}">
        <p14:creationId xmlns:p14="http://schemas.microsoft.com/office/powerpoint/2010/main" val="1958848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DEDD99F4-B123-8311-8A4C-0BFDAFD315A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5EFFDEC-2BC5-CEDC-27FB-3B1714F67845}"/>
              </a:ext>
            </a:extLst>
          </p:cNvPr>
          <p:cNvSpPr txBox="1"/>
          <p:nvPr/>
        </p:nvSpPr>
        <p:spPr>
          <a:xfrm>
            <a:off x="5486400" y="470390"/>
            <a:ext cx="10017888" cy="733534"/>
          </a:xfrm>
          <a:prstGeom prst="rect">
            <a:avLst/>
          </a:prstGeom>
          <a:noFill/>
        </p:spPr>
        <p:txBody>
          <a:bodyPr wrap="square">
            <a:spAutoFit/>
          </a:bodyPr>
          <a:lstStyle/>
          <a:p>
            <a:pPr marL="388624" lvl="1">
              <a:lnSpc>
                <a:spcPts val="5040"/>
              </a:lnSpc>
            </a:pPr>
            <a:r>
              <a:rPr lang="en-US" sz="4400" b="1" dirty="0">
                <a:solidFill>
                  <a:srgbClr val="1B3A62"/>
                </a:solidFill>
                <a:highlight>
                  <a:srgbClr val="C0C0C0"/>
                </a:highlight>
                <a:latin typeface="Inter Bold"/>
                <a:ea typeface="Inter Bold"/>
                <a:cs typeface="Inter Bold"/>
                <a:sym typeface="Inter Bold"/>
              </a:rPr>
              <a:t>Analysis Questions</a:t>
            </a:r>
          </a:p>
        </p:txBody>
      </p:sp>
      <p:sp>
        <p:nvSpPr>
          <p:cNvPr id="9" name="TextBox 8">
            <a:extLst>
              <a:ext uri="{FF2B5EF4-FFF2-40B4-BE49-F238E27FC236}">
                <a16:creationId xmlns:a16="http://schemas.microsoft.com/office/drawing/2014/main" id="{2C5E7057-74BA-739F-49A4-1C37263016B0}"/>
              </a:ext>
            </a:extLst>
          </p:cNvPr>
          <p:cNvSpPr txBox="1"/>
          <p:nvPr/>
        </p:nvSpPr>
        <p:spPr>
          <a:xfrm>
            <a:off x="274875" y="2476500"/>
            <a:ext cx="9144000" cy="683713"/>
          </a:xfrm>
          <a:prstGeom prst="rect">
            <a:avLst/>
          </a:prstGeom>
          <a:noFill/>
        </p:spPr>
        <p:txBody>
          <a:bodyPr wrap="square">
            <a:spAutoFit/>
          </a:bodyPr>
          <a:lstStyle/>
          <a:p>
            <a:pPr marL="388624" lvl="1">
              <a:lnSpc>
                <a:spcPts val="5040"/>
              </a:lnSpc>
            </a:pPr>
            <a:r>
              <a:rPr lang="en-US" sz="3600" b="1" dirty="0">
                <a:solidFill>
                  <a:srgbClr val="1B3A62"/>
                </a:solidFill>
                <a:latin typeface="Inter Bold"/>
                <a:ea typeface="Inter Bold"/>
                <a:cs typeface="Inter Bold"/>
                <a:sym typeface="Inter Bold"/>
              </a:rPr>
              <a:t>Products Analysis</a:t>
            </a:r>
            <a:r>
              <a:rPr lang="ar-SA" sz="3600" b="1" dirty="0">
                <a:solidFill>
                  <a:srgbClr val="1B3A62"/>
                </a:solidFill>
                <a:latin typeface="Inter Bold"/>
                <a:ea typeface="Inter Bold"/>
                <a:cs typeface="Inter Bold"/>
                <a:sym typeface="Inter Bold"/>
              </a:rPr>
              <a:t> : </a:t>
            </a:r>
            <a:endParaRPr lang="en-US" sz="3600" b="1" dirty="0">
              <a:solidFill>
                <a:srgbClr val="1B3A62"/>
              </a:solidFill>
              <a:latin typeface="Inter Bold"/>
              <a:ea typeface="Inter Bold"/>
              <a:cs typeface="Inter Bold"/>
              <a:sym typeface="Inter Bold"/>
            </a:endParaRPr>
          </a:p>
        </p:txBody>
      </p:sp>
      <p:sp>
        <p:nvSpPr>
          <p:cNvPr id="10" name="TextBox 9">
            <a:extLst>
              <a:ext uri="{FF2B5EF4-FFF2-40B4-BE49-F238E27FC236}">
                <a16:creationId xmlns:a16="http://schemas.microsoft.com/office/drawing/2014/main" id="{91FA904B-962B-F194-132D-19F2A7069C62}"/>
              </a:ext>
            </a:extLst>
          </p:cNvPr>
          <p:cNvSpPr txBox="1"/>
          <p:nvPr/>
        </p:nvSpPr>
        <p:spPr>
          <a:xfrm>
            <a:off x="274875" y="4152900"/>
            <a:ext cx="9823715" cy="3970318"/>
          </a:xfrm>
          <a:prstGeom prst="rect">
            <a:avLst/>
          </a:prstGeom>
          <a:noFill/>
        </p:spPr>
        <p:txBody>
          <a:bodyPr wrap="none" rtlCol="0">
            <a:spAutoFit/>
          </a:bodyPr>
          <a:lstStyle/>
          <a:p>
            <a:pPr marL="285750" indent="-285750" algn="just">
              <a:buFont typeface="Arial" panose="020B0604020202020204" pitchFamily="34" charset="0"/>
              <a:buChar char="•"/>
            </a:pPr>
            <a:r>
              <a:rPr lang="en-US" sz="3600" b="1" dirty="0">
                <a:solidFill>
                  <a:schemeClr val="tx2"/>
                </a:solidFill>
              </a:rPr>
              <a:t>Top 10 Most Sold Products by Quantity and Sales</a:t>
            </a:r>
          </a:p>
          <a:p>
            <a:pPr algn="just"/>
            <a:endParaRPr lang="en-US" sz="3600" b="1" dirty="0">
              <a:solidFill>
                <a:schemeClr val="tx2"/>
              </a:solidFill>
            </a:endParaRPr>
          </a:p>
          <a:p>
            <a:pPr marL="285750" indent="-285750" algn="just">
              <a:buFont typeface="Arial" panose="020B0604020202020204" pitchFamily="34" charset="0"/>
              <a:buChar char="•"/>
            </a:pPr>
            <a:r>
              <a:rPr lang="en-US" sz="3600" b="1" dirty="0">
                <a:solidFill>
                  <a:schemeClr val="tx2"/>
                </a:solidFill>
              </a:rPr>
              <a:t>Products with High Sales but Negative Profit</a:t>
            </a:r>
          </a:p>
          <a:p>
            <a:pPr marL="285750" indent="-285750" algn="just">
              <a:buFont typeface="Arial" panose="020B0604020202020204" pitchFamily="34" charset="0"/>
              <a:buChar char="•"/>
            </a:pPr>
            <a:endParaRPr lang="en-US" sz="3600" b="1" dirty="0">
              <a:solidFill>
                <a:schemeClr val="tx2"/>
              </a:solidFill>
            </a:endParaRPr>
          </a:p>
          <a:p>
            <a:pPr marL="285750" indent="-285750" algn="just">
              <a:buFont typeface="Arial" panose="020B0604020202020204" pitchFamily="34" charset="0"/>
              <a:buChar char="•"/>
            </a:pPr>
            <a:r>
              <a:rPr lang="en-US" sz="3600" b="1" dirty="0">
                <a:solidFill>
                  <a:schemeClr val="tx2"/>
                </a:solidFill>
              </a:rPr>
              <a:t>Category Performance by Sales and Profit</a:t>
            </a:r>
          </a:p>
          <a:p>
            <a:pPr marL="285750" indent="-285750" algn="just">
              <a:buFont typeface="Arial" panose="020B0604020202020204" pitchFamily="34" charset="0"/>
              <a:buChar char="•"/>
            </a:pPr>
            <a:endParaRPr lang="en-US" sz="3600" b="1" dirty="0">
              <a:solidFill>
                <a:schemeClr val="tx2"/>
              </a:solidFill>
            </a:endParaRPr>
          </a:p>
          <a:p>
            <a:pPr marL="285750" indent="-285750" algn="just">
              <a:buFont typeface="Arial" panose="020B0604020202020204" pitchFamily="34" charset="0"/>
              <a:buChar char="•"/>
            </a:pPr>
            <a:r>
              <a:rPr lang="en-US" sz="3600" b="1" dirty="0">
                <a:solidFill>
                  <a:schemeClr val="tx2"/>
                </a:solidFill>
              </a:rPr>
              <a:t>Sub-Categories by Sales and Profit</a:t>
            </a:r>
          </a:p>
        </p:txBody>
      </p:sp>
      <p:sp>
        <p:nvSpPr>
          <p:cNvPr id="3" name="مربع نص 2">
            <a:extLst>
              <a:ext uri="{FF2B5EF4-FFF2-40B4-BE49-F238E27FC236}">
                <a16:creationId xmlns:a16="http://schemas.microsoft.com/office/drawing/2014/main" id="{5F03EE78-EABB-954D-00CC-8EE89FB668BF}"/>
              </a:ext>
            </a:extLst>
          </p:cNvPr>
          <p:cNvSpPr txBox="1"/>
          <p:nvPr/>
        </p:nvSpPr>
        <p:spPr>
          <a:xfrm>
            <a:off x="16764000" y="91059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22</a:t>
            </a:r>
          </a:p>
        </p:txBody>
      </p:sp>
    </p:spTree>
    <p:extLst>
      <p:ext uri="{BB962C8B-B14F-4D97-AF65-F5344CB8AC3E}">
        <p14:creationId xmlns:p14="http://schemas.microsoft.com/office/powerpoint/2010/main" val="419802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AFE7DCAC-84E7-72DF-A2DD-4C5CC31254B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BF343BBE-1E15-1234-B007-387BA5A388B6}"/>
              </a:ext>
            </a:extLst>
          </p:cNvPr>
          <p:cNvSpPr txBox="1"/>
          <p:nvPr/>
        </p:nvSpPr>
        <p:spPr>
          <a:xfrm>
            <a:off x="4498464" y="647700"/>
            <a:ext cx="9144000" cy="584775"/>
          </a:xfrm>
          <a:prstGeom prst="rect">
            <a:avLst/>
          </a:prstGeom>
          <a:noFill/>
        </p:spPr>
        <p:txBody>
          <a:bodyPr wrap="square">
            <a:spAutoFit/>
          </a:bodyPr>
          <a:lstStyle/>
          <a:p>
            <a:pPr algn="just"/>
            <a:r>
              <a:rPr lang="en-US" sz="3200" b="1" dirty="0">
                <a:solidFill>
                  <a:schemeClr val="tx2"/>
                </a:solidFill>
              </a:rPr>
              <a:t>Top 10 Most Sold Products by Quantity and Sales</a:t>
            </a:r>
          </a:p>
        </p:txBody>
      </p:sp>
      <p:pic>
        <p:nvPicPr>
          <p:cNvPr id="2" name="صورة 1">
            <a:extLst>
              <a:ext uri="{FF2B5EF4-FFF2-40B4-BE49-F238E27FC236}">
                <a16:creationId xmlns:a16="http://schemas.microsoft.com/office/drawing/2014/main" id="{B5AF96FC-6F12-4D56-3E1F-DBE51B4F5963}"/>
              </a:ext>
            </a:extLst>
          </p:cNvPr>
          <p:cNvPicPr>
            <a:picLocks noChangeAspect="1"/>
          </p:cNvPicPr>
          <p:nvPr/>
        </p:nvPicPr>
        <p:blipFill>
          <a:blip r:embed="rId2"/>
          <a:stretch>
            <a:fillRect/>
          </a:stretch>
        </p:blipFill>
        <p:spPr>
          <a:xfrm>
            <a:off x="1817914" y="2054319"/>
            <a:ext cx="6153684" cy="5640877"/>
          </a:xfrm>
          <a:prstGeom prst="rect">
            <a:avLst/>
          </a:prstGeom>
          <a:effectLst>
            <a:glow rad="63500">
              <a:schemeClr val="accent1">
                <a:satMod val="175000"/>
                <a:alpha val="40000"/>
              </a:schemeClr>
            </a:glow>
          </a:effectLst>
        </p:spPr>
      </p:pic>
      <p:pic>
        <p:nvPicPr>
          <p:cNvPr id="4" name="صورة 3">
            <a:extLst>
              <a:ext uri="{FF2B5EF4-FFF2-40B4-BE49-F238E27FC236}">
                <a16:creationId xmlns:a16="http://schemas.microsoft.com/office/drawing/2014/main" id="{A2BC30E2-BC77-DB0E-359B-6EA367072679}"/>
              </a:ext>
            </a:extLst>
          </p:cNvPr>
          <p:cNvPicPr>
            <a:picLocks noChangeAspect="1"/>
          </p:cNvPicPr>
          <p:nvPr/>
        </p:nvPicPr>
        <p:blipFill>
          <a:blip r:embed="rId3"/>
          <a:stretch>
            <a:fillRect/>
          </a:stretch>
        </p:blipFill>
        <p:spPr>
          <a:xfrm>
            <a:off x="9829800" y="1908974"/>
            <a:ext cx="6335486" cy="5843874"/>
          </a:xfrm>
          <a:prstGeom prst="rect">
            <a:avLst/>
          </a:prstGeom>
          <a:effectLst>
            <a:glow rad="63500">
              <a:schemeClr val="accent1">
                <a:satMod val="175000"/>
                <a:alpha val="40000"/>
              </a:schemeClr>
            </a:glow>
          </a:effectLst>
        </p:spPr>
      </p:pic>
      <p:pic>
        <p:nvPicPr>
          <p:cNvPr id="7" name="صورة 6">
            <a:extLst>
              <a:ext uri="{FF2B5EF4-FFF2-40B4-BE49-F238E27FC236}">
                <a16:creationId xmlns:a16="http://schemas.microsoft.com/office/drawing/2014/main" id="{B2849609-4BA0-7480-0DBC-6C3F0035D712}"/>
              </a:ext>
            </a:extLst>
          </p:cNvPr>
          <p:cNvPicPr>
            <a:picLocks noChangeAspect="1"/>
          </p:cNvPicPr>
          <p:nvPr/>
        </p:nvPicPr>
        <p:blipFill>
          <a:blip r:embed="rId4"/>
          <a:stretch>
            <a:fillRect/>
          </a:stretch>
        </p:blipFill>
        <p:spPr>
          <a:xfrm>
            <a:off x="6369831" y="7810500"/>
            <a:ext cx="5401266" cy="2260046"/>
          </a:xfrm>
          <a:prstGeom prst="rect">
            <a:avLst/>
          </a:prstGeom>
        </p:spPr>
      </p:pic>
      <p:sp>
        <p:nvSpPr>
          <p:cNvPr id="10" name="مربع نص 9">
            <a:extLst>
              <a:ext uri="{FF2B5EF4-FFF2-40B4-BE49-F238E27FC236}">
                <a16:creationId xmlns:a16="http://schemas.microsoft.com/office/drawing/2014/main" id="{524F7E32-9366-1DEA-B1F6-16001EE3F56A}"/>
              </a:ext>
            </a:extLst>
          </p:cNvPr>
          <p:cNvSpPr txBox="1"/>
          <p:nvPr/>
        </p:nvSpPr>
        <p:spPr>
          <a:xfrm>
            <a:off x="16916400" y="9272683"/>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23</a:t>
            </a:r>
          </a:p>
        </p:txBody>
      </p:sp>
    </p:spTree>
    <p:extLst>
      <p:ext uri="{BB962C8B-B14F-4D97-AF65-F5344CB8AC3E}">
        <p14:creationId xmlns:p14="http://schemas.microsoft.com/office/powerpoint/2010/main" val="10048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5E400CCE-1DFD-BE61-6F56-5B5ECE89AC5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134B86C-A03A-BB0D-24CF-C4724C7BD8E8}"/>
              </a:ext>
            </a:extLst>
          </p:cNvPr>
          <p:cNvSpPr txBox="1"/>
          <p:nvPr/>
        </p:nvSpPr>
        <p:spPr>
          <a:xfrm>
            <a:off x="5882640" y="1356831"/>
            <a:ext cx="10017888" cy="733534"/>
          </a:xfrm>
          <a:prstGeom prst="rect">
            <a:avLst/>
          </a:prstGeom>
          <a:noFill/>
        </p:spPr>
        <p:txBody>
          <a:bodyPr wrap="square">
            <a:spAutoFit/>
          </a:bodyPr>
          <a:lstStyle/>
          <a:p>
            <a:pPr marL="388624" lvl="1">
              <a:lnSpc>
                <a:spcPts val="5040"/>
              </a:lnSpc>
            </a:pPr>
            <a:r>
              <a:rPr lang="en-US" sz="4400" b="1" dirty="0">
                <a:solidFill>
                  <a:srgbClr val="1B3A62"/>
                </a:solidFill>
                <a:highlight>
                  <a:srgbClr val="C0C0C0"/>
                </a:highlight>
                <a:latin typeface="Inter Bold"/>
                <a:ea typeface="Inter Bold"/>
                <a:cs typeface="Inter Bold"/>
                <a:sym typeface="Inter Bold"/>
              </a:rPr>
              <a:t>Analysis Questions</a:t>
            </a:r>
          </a:p>
        </p:txBody>
      </p:sp>
      <p:sp>
        <p:nvSpPr>
          <p:cNvPr id="9" name="TextBox 8">
            <a:extLst>
              <a:ext uri="{FF2B5EF4-FFF2-40B4-BE49-F238E27FC236}">
                <a16:creationId xmlns:a16="http://schemas.microsoft.com/office/drawing/2014/main" id="{48C53D66-F404-9297-6858-E7C88B003B97}"/>
              </a:ext>
            </a:extLst>
          </p:cNvPr>
          <p:cNvSpPr txBox="1"/>
          <p:nvPr/>
        </p:nvSpPr>
        <p:spPr>
          <a:xfrm>
            <a:off x="304800" y="3162300"/>
            <a:ext cx="9144000" cy="683713"/>
          </a:xfrm>
          <a:prstGeom prst="rect">
            <a:avLst/>
          </a:prstGeom>
          <a:noFill/>
        </p:spPr>
        <p:txBody>
          <a:bodyPr wrap="square">
            <a:spAutoFit/>
          </a:bodyPr>
          <a:lstStyle/>
          <a:p>
            <a:pPr marL="388624" lvl="1">
              <a:lnSpc>
                <a:spcPts val="5040"/>
              </a:lnSpc>
            </a:pPr>
            <a:r>
              <a:rPr lang="en-US" sz="3600" b="1" dirty="0">
                <a:solidFill>
                  <a:srgbClr val="1B3A62"/>
                </a:solidFill>
                <a:latin typeface="Inter Bold"/>
                <a:ea typeface="Inter Bold"/>
                <a:cs typeface="Inter Bold"/>
                <a:sym typeface="Inter Bold"/>
              </a:rPr>
              <a:t>Sales Trend Analysis</a:t>
            </a:r>
            <a:r>
              <a:rPr lang="ar-SA" sz="3600" b="1" dirty="0">
                <a:solidFill>
                  <a:srgbClr val="1B3A62"/>
                </a:solidFill>
                <a:latin typeface="Inter Bold"/>
                <a:ea typeface="Inter Bold"/>
                <a:cs typeface="Inter Bold"/>
                <a:sym typeface="Inter Bold"/>
              </a:rPr>
              <a:t> : </a:t>
            </a:r>
            <a:endParaRPr lang="en-US" sz="3600" b="1" dirty="0">
              <a:solidFill>
                <a:srgbClr val="1B3A62"/>
              </a:solidFill>
              <a:latin typeface="Inter Bold"/>
              <a:ea typeface="Inter Bold"/>
              <a:cs typeface="Inter Bold"/>
              <a:sym typeface="Inter Bold"/>
            </a:endParaRPr>
          </a:p>
        </p:txBody>
      </p:sp>
      <p:sp>
        <p:nvSpPr>
          <p:cNvPr id="10" name="TextBox 9">
            <a:extLst>
              <a:ext uri="{FF2B5EF4-FFF2-40B4-BE49-F238E27FC236}">
                <a16:creationId xmlns:a16="http://schemas.microsoft.com/office/drawing/2014/main" id="{4BADCAEC-AE24-995B-6E17-4CA1430F8F42}"/>
              </a:ext>
            </a:extLst>
          </p:cNvPr>
          <p:cNvSpPr txBox="1"/>
          <p:nvPr/>
        </p:nvSpPr>
        <p:spPr>
          <a:xfrm>
            <a:off x="701040" y="4640876"/>
            <a:ext cx="10871566" cy="2862322"/>
          </a:xfrm>
          <a:prstGeom prst="rect">
            <a:avLst/>
          </a:prstGeom>
          <a:noFill/>
        </p:spPr>
        <p:txBody>
          <a:bodyPr wrap="none" rtlCol="0">
            <a:spAutoFit/>
          </a:bodyPr>
          <a:lstStyle/>
          <a:p>
            <a:pPr marL="285750" indent="-285750" algn="just">
              <a:buFont typeface="Arial" panose="020B0604020202020204" pitchFamily="34" charset="0"/>
              <a:buChar char="•"/>
            </a:pPr>
            <a:r>
              <a:rPr lang="en-US" sz="3600" b="1" dirty="0">
                <a:solidFill>
                  <a:schemeClr val="tx2"/>
                </a:solidFill>
              </a:rPr>
              <a:t>The trend of sales and profit over time (monthly/year)</a:t>
            </a:r>
          </a:p>
          <a:p>
            <a:pPr algn="just"/>
            <a:endParaRPr lang="en-US" sz="3600" b="1" dirty="0">
              <a:solidFill>
                <a:schemeClr val="tx2"/>
              </a:solidFill>
            </a:endParaRPr>
          </a:p>
          <a:p>
            <a:pPr marL="285750" indent="-285750" algn="just">
              <a:buFont typeface="Arial" panose="020B0604020202020204" pitchFamily="34" charset="0"/>
              <a:buChar char="•"/>
            </a:pPr>
            <a:r>
              <a:rPr lang="en-US" sz="3600" b="1" dirty="0">
                <a:solidFill>
                  <a:schemeClr val="tx2"/>
                </a:solidFill>
              </a:rPr>
              <a:t>Best year in sales</a:t>
            </a:r>
          </a:p>
          <a:p>
            <a:pPr marL="285750" indent="-285750" algn="just">
              <a:buFont typeface="Arial" panose="020B0604020202020204" pitchFamily="34" charset="0"/>
              <a:buChar char="•"/>
            </a:pPr>
            <a:endParaRPr lang="en-US" sz="3600" b="1" dirty="0">
              <a:solidFill>
                <a:schemeClr val="tx2"/>
              </a:solidFill>
            </a:endParaRPr>
          </a:p>
          <a:p>
            <a:pPr marL="285750" indent="-285750" algn="just">
              <a:buFont typeface="Arial" panose="020B0604020202020204" pitchFamily="34" charset="0"/>
              <a:buChar char="•"/>
            </a:pPr>
            <a:r>
              <a:rPr lang="en-US" sz="3600" b="1" dirty="0">
                <a:solidFill>
                  <a:schemeClr val="tx2"/>
                </a:solidFill>
              </a:rPr>
              <a:t>Sales per Quarter</a:t>
            </a:r>
          </a:p>
        </p:txBody>
      </p:sp>
      <p:sp>
        <p:nvSpPr>
          <p:cNvPr id="3" name="مربع نص 2">
            <a:extLst>
              <a:ext uri="{FF2B5EF4-FFF2-40B4-BE49-F238E27FC236}">
                <a16:creationId xmlns:a16="http://schemas.microsoft.com/office/drawing/2014/main" id="{8163ACFB-2C90-561E-66D0-E34769D29C3A}"/>
              </a:ext>
            </a:extLst>
          </p:cNvPr>
          <p:cNvSpPr txBox="1"/>
          <p:nvPr/>
        </p:nvSpPr>
        <p:spPr>
          <a:xfrm>
            <a:off x="16992600" y="9105900"/>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24</a:t>
            </a:r>
          </a:p>
        </p:txBody>
      </p:sp>
    </p:spTree>
    <p:extLst>
      <p:ext uri="{BB962C8B-B14F-4D97-AF65-F5344CB8AC3E}">
        <p14:creationId xmlns:p14="http://schemas.microsoft.com/office/powerpoint/2010/main" val="2683085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82669B3B-BF13-A975-7B04-2DCCD82B8512}"/>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51C4B70C-BCB9-4EBD-01D3-7C0868C6FA19}"/>
              </a:ext>
            </a:extLst>
          </p:cNvPr>
          <p:cNvSpPr txBox="1"/>
          <p:nvPr/>
        </p:nvSpPr>
        <p:spPr>
          <a:xfrm>
            <a:off x="3505200" y="723900"/>
            <a:ext cx="10363200" cy="584775"/>
          </a:xfrm>
          <a:prstGeom prst="rect">
            <a:avLst/>
          </a:prstGeom>
          <a:noFill/>
        </p:spPr>
        <p:txBody>
          <a:bodyPr wrap="square">
            <a:spAutoFit/>
          </a:bodyPr>
          <a:lstStyle/>
          <a:p>
            <a:pPr marL="285750" indent="-285750" algn="just">
              <a:buFont typeface="Arial" panose="020B0604020202020204" pitchFamily="34" charset="0"/>
              <a:buChar char="•"/>
            </a:pPr>
            <a:r>
              <a:rPr lang="en-US" sz="3200" b="1" dirty="0">
                <a:solidFill>
                  <a:schemeClr val="tx2"/>
                </a:solidFill>
              </a:rPr>
              <a:t>The trend of sales and profit over time (monthly/year)</a:t>
            </a:r>
          </a:p>
        </p:txBody>
      </p:sp>
      <p:pic>
        <p:nvPicPr>
          <p:cNvPr id="3" name="Picture 2">
            <a:extLst>
              <a:ext uri="{FF2B5EF4-FFF2-40B4-BE49-F238E27FC236}">
                <a16:creationId xmlns:a16="http://schemas.microsoft.com/office/drawing/2014/main" id="{5FCF6E41-650B-AE77-1EC2-383B9B77CF59}"/>
              </a:ext>
            </a:extLst>
          </p:cNvPr>
          <p:cNvPicPr>
            <a:picLocks noChangeAspect="1"/>
          </p:cNvPicPr>
          <p:nvPr/>
        </p:nvPicPr>
        <p:blipFill>
          <a:blip r:embed="rId2"/>
          <a:stretch>
            <a:fillRect/>
          </a:stretch>
        </p:blipFill>
        <p:spPr>
          <a:xfrm>
            <a:off x="8686800" y="3238500"/>
            <a:ext cx="8305800" cy="4495800"/>
          </a:xfrm>
          <a:prstGeom prst="rect">
            <a:avLst/>
          </a:prstGeom>
        </p:spPr>
      </p:pic>
      <p:pic>
        <p:nvPicPr>
          <p:cNvPr id="6" name="Picture 5">
            <a:extLst>
              <a:ext uri="{FF2B5EF4-FFF2-40B4-BE49-F238E27FC236}">
                <a16:creationId xmlns:a16="http://schemas.microsoft.com/office/drawing/2014/main" id="{4949B445-C6CA-593D-54F2-57C11823E368}"/>
              </a:ext>
            </a:extLst>
          </p:cNvPr>
          <p:cNvPicPr>
            <a:picLocks noChangeAspect="1"/>
          </p:cNvPicPr>
          <p:nvPr/>
        </p:nvPicPr>
        <p:blipFill>
          <a:blip r:embed="rId3"/>
          <a:stretch>
            <a:fillRect/>
          </a:stretch>
        </p:blipFill>
        <p:spPr>
          <a:xfrm>
            <a:off x="960120" y="2400300"/>
            <a:ext cx="6945856" cy="5806858"/>
          </a:xfrm>
          <a:prstGeom prst="rect">
            <a:avLst/>
          </a:prstGeom>
          <a:effectLst>
            <a:glow rad="63500">
              <a:schemeClr val="accent1">
                <a:satMod val="175000"/>
                <a:alpha val="40000"/>
              </a:schemeClr>
            </a:glow>
          </a:effectLst>
        </p:spPr>
      </p:pic>
      <p:sp>
        <p:nvSpPr>
          <p:cNvPr id="4" name="مربع نص 3">
            <a:extLst>
              <a:ext uri="{FF2B5EF4-FFF2-40B4-BE49-F238E27FC236}">
                <a16:creationId xmlns:a16="http://schemas.microsoft.com/office/drawing/2014/main" id="{F5A1D5B2-3AD4-1E00-197A-E01456DCA68C}"/>
              </a:ext>
            </a:extLst>
          </p:cNvPr>
          <p:cNvSpPr txBox="1"/>
          <p:nvPr/>
        </p:nvSpPr>
        <p:spPr>
          <a:xfrm>
            <a:off x="16998043" y="9272683"/>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25</a:t>
            </a:r>
          </a:p>
        </p:txBody>
      </p:sp>
    </p:spTree>
    <p:extLst>
      <p:ext uri="{BB962C8B-B14F-4D97-AF65-F5344CB8AC3E}">
        <p14:creationId xmlns:p14="http://schemas.microsoft.com/office/powerpoint/2010/main" val="1311971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B69BA2E1-8686-BAF3-36A6-4B6E4DEB517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7988DD6-C2CE-918F-666E-8D46DE49EDFE}"/>
              </a:ext>
            </a:extLst>
          </p:cNvPr>
          <p:cNvSpPr txBox="1"/>
          <p:nvPr/>
        </p:nvSpPr>
        <p:spPr>
          <a:xfrm>
            <a:off x="6248400" y="1257300"/>
            <a:ext cx="10017888" cy="733534"/>
          </a:xfrm>
          <a:prstGeom prst="rect">
            <a:avLst/>
          </a:prstGeom>
          <a:noFill/>
        </p:spPr>
        <p:txBody>
          <a:bodyPr wrap="square">
            <a:spAutoFit/>
          </a:bodyPr>
          <a:lstStyle/>
          <a:p>
            <a:pPr marL="388624" lvl="1">
              <a:lnSpc>
                <a:spcPts val="5040"/>
              </a:lnSpc>
            </a:pPr>
            <a:r>
              <a:rPr lang="en-US" sz="4400" b="1" dirty="0">
                <a:solidFill>
                  <a:srgbClr val="1B3A62"/>
                </a:solidFill>
                <a:highlight>
                  <a:srgbClr val="C0C0C0"/>
                </a:highlight>
                <a:latin typeface="Inter Bold"/>
                <a:ea typeface="Inter Bold"/>
                <a:cs typeface="Inter Bold"/>
                <a:sym typeface="Inter Bold"/>
              </a:rPr>
              <a:t>Data Visualization</a:t>
            </a:r>
          </a:p>
        </p:txBody>
      </p:sp>
      <p:sp>
        <p:nvSpPr>
          <p:cNvPr id="3" name="TextBox 2">
            <a:extLst>
              <a:ext uri="{FF2B5EF4-FFF2-40B4-BE49-F238E27FC236}">
                <a16:creationId xmlns:a16="http://schemas.microsoft.com/office/drawing/2014/main" id="{4FBD0FE6-2BC7-0B16-2CBC-25FC4701D7C1}"/>
              </a:ext>
            </a:extLst>
          </p:cNvPr>
          <p:cNvSpPr txBox="1"/>
          <p:nvPr/>
        </p:nvSpPr>
        <p:spPr>
          <a:xfrm>
            <a:off x="609600" y="3390900"/>
            <a:ext cx="17068800" cy="4278094"/>
          </a:xfrm>
          <a:prstGeom prst="rect">
            <a:avLst/>
          </a:prstGeom>
          <a:noFill/>
        </p:spPr>
        <p:txBody>
          <a:bodyPr wrap="square">
            <a:spAutoFit/>
          </a:bodyPr>
          <a:lstStyle/>
          <a:p>
            <a:pPr>
              <a:buFont typeface="Arial" panose="020B0604020202020204" pitchFamily="34" charset="0"/>
              <a:buChar char="•"/>
            </a:pPr>
            <a:r>
              <a:rPr lang="en-US" sz="3600" b="1" dirty="0">
                <a:solidFill>
                  <a:schemeClr val="tx2"/>
                </a:solidFill>
              </a:rPr>
              <a:t>Built interactive dashboards to present key business insights. </a:t>
            </a:r>
          </a:p>
          <a:p>
            <a:pPr>
              <a:buFont typeface="Arial" panose="020B0604020202020204" pitchFamily="34" charset="0"/>
              <a:buChar char="•"/>
            </a:pPr>
            <a:r>
              <a:rPr lang="en-US" sz="3600" b="1" dirty="0">
                <a:solidFill>
                  <a:schemeClr val="tx2"/>
                </a:solidFill>
              </a:rPr>
              <a:t>Used charts, KPIs, and filters to simplify data analysis and support decision-making. </a:t>
            </a:r>
            <a:endParaRPr lang="ar-EG" sz="3600" b="1" dirty="0">
              <a:solidFill>
                <a:schemeClr val="tx2"/>
              </a:solidFill>
            </a:endParaRPr>
          </a:p>
          <a:p>
            <a:pPr>
              <a:buFont typeface="Arial" panose="020B0604020202020204" pitchFamily="34" charset="0"/>
              <a:buChar char="•"/>
            </a:pPr>
            <a:endParaRPr lang="ar-EG" dirty="0"/>
          </a:p>
          <a:p>
            <a:pPr>
              <a:buFont typeface="Arial" panose="020B0604020202020204" pitchFamily="34" charset="0"/>
              <a:buChar char="•"/>
            </a:pPr>
            <a:endParaRPr lang="en-US" dirty="0"/>
          </a:p>
          <a:p>
            <a:pPr>
              <a:buNone/>
            </a:pPr>
            <a:r>
              <a:rPr lang="en-US" sz="3600" b="1" dirty="0">
                <a:solidFill>
                  <a:schemeClr val="tx2"/>
                </a:solidFill>
              </a:rPr>
              <a:t>The project includes four dashboards:</a:t>
            </a:r>
            <a:endParaRPr lang="en-US" sz="3600" dirty="0">
              <a:solidFill>
                <a:schemeClr val="tx2"/>
              </a:solidFill>
            </a:endParaRPr>
          </a:p>
          <a:p>
            <a:pPr marL="457200" indent="-457200">
              <a:buFont typeface="Arial" panose="020B0604020202020204" pitchFamily="34" charset="0"/>
              <a:buChar char="•"/>
            </a:pPr>
            <a:r>
              <a:rPr lang="en-US" sz="3200" b="1" dirty="0">
                <a:solidFill>
                  <a:schemeClr val="tx2"/>
                </a:solidFill>
              </a:rPr>
              <a:t>Overview Dashboard </a:t>
            </a:r>
          </a:p>
          <a:p>
            <a:pPr marL="457200" indent="-457200">
              <a:buFont typeface="Arial" panose="020B0604020202020204" pitchFamily="34" charset="0"/>
              <a:buChar char="•"/>
            </a:pPr>
            <a:r>
              <a:rPr lang="en-US" sz="3200" b="1" dirty="0">
                <a:solidFill>
                  <a:schemeClr val="tx2"/>
                </a:solidFill>
              </a:rPr>
              <a:t>Customer &amp; Orders Analysis </a:t>
            </a:r>
          </a:p>
          <a:p>
            <a:pPr marL="457200" indent="-457200">
              <a:buFont typeface="Arial" panose="020B0604020202020204" pitchFamily="34" charset="0"/>
              <a:buChar char="•"/>
            </a:pPr>
            <a:r>
              <a:rPr lang="en-US" sz="3200" b="1" dirty="0">
                <a:solidFill>
                  <a:schemeClr val="tx2"/>
                </a:solidFill>
              </a:rPr>
              <a:t>Product Analysis </a:t>
            </a:r>
          </a:p>
          <a:p>
            <a:pPr marL="457200" indent="-457200">
              <a:buFont typeface="Arial" panose="020B0604020202020204" pitchFamily="34" charset="0"/>
              <a:buChar char="•"/>
            </a:pPr>
            <a:r>
              <a:rPr lang="en-US" sz="3200" b="1" dirty="0">
                <a:solidFill>
                  <a:schemeClr val="tx2"/>
                </a:solidFill>
              </a:rPr>
              <a:t>Shipping &amp; Delivery Performance </a:t>
            </a:r>
          </a:p>
        </p:txBody>
      </p:sp>
      <p:sp>
        <p:nvSpPr>
          <p:cNvPr id="4" name="مربع نص 3">
            <a:extLst>
              <a:ext uri="{FF2B5EF4-FFF2-40B4-BE49-F238E27FC236}">
                <a16:creationId xmlns:a16="http://schemas.microsoft.com/office/drawing/2014/main" id="{36CA4A1C-2729-96FD-EB66-C5418DC5188A}"/>
              </a:ext>
            </a:extLst>
          </p:cNvPr>
          <p:cNvSpPr txBox="1"/>
          <p:nvPr/>
        </p:nvSpPr>
        <p:spPr>
          <a:xfrm>
            <a:off x="16916400" y="9256354"/>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26</a:t>
            </a:r>
          </a:p>
        </p:txBody>
      </p:sp>
    </p:spTree>
    <p:extLst>
      <p:ext uri="{BB962C8B-B14F-4D97-AF65-F5344CB8AC3E}">
        <p14:creationId xmlns:p14="http://schemas.microsoft.com/office/powerpoint/2010/main" val="4276115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A9DA1C19-329C-752D-C8A6-0BEA10478C2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3C8CAF9-997B-BAEF-26D4-7BB59E5CBB75}"/>
              </a:ext>
            </a:extLst>
          </p:cNvPr>
          <p:cNvSpPr txBox="1"/>
          <p:nvPr/>
        </p:nvSpPr>
        <p:spPr>
          <a:xfrm>
            <a:off x="6898512" y="804539"/>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Power Bi</a:t>
            </a:r>
            <a:endParaRPr lang="en-US" sz="4400" b="1" dirty="0">
              <a:solidFill>
                <a:srgbClr val="1B3A62"/>
              </a:solidFill>
              <a:highlight>
                <a:srgbClr val="C0C0C0"/>
              </a:highlight>
              <a:latin typeface="Inter Bold"/>
              <a:ea typeface="Inter Bold"/>
              <a:cs typeface="Inter Bold"/>
              <a:sym typeface="Inter Bold"/>
            </a:endParaRPr>
          </a:p>
        </p:txBody>
      </p:sp>
      <p:sp>
        <p:nvSpPr>
          <p:cNvPr id="4" name="مربع نص 3">
            <a:extLst>
              <a:ext uri="{FF2B5EF4-FFF2-40B4-BE49-F238E27FC236}">
                <a16:creationId xmlns:a16="http://schemas.microsoft.com/office/drawing/2014/main" id="{8236F76A-17D4-21C7-F427-EAD493D41CDC}"/>
              </a:ext>
            </a:extLst>
          </p:cNvPr>
          <p:cNvSpPr txBox="1"/>
          <p:nvPr/>
        </p:nvSpPr>
        <p:spPr>
          <a:xfrm>
            <a:off x="16916400" y="9256354"/>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27</a:t>
            </a:r>
          </a:p>
        </p:txBody>
      </p:sp>
      <p:pic>
        <p:nvPicPr>
          <p:cNvPr id="2" name="صورة 1">
            <a:extLst>
              <a:ext uri="{FF2B5EF4-FFF2-40B4-BE49-F238E27FC236}">
                <a16:creationId xmlns:a16="http://schemas.microsoft.com/office/drawing/2014/main" id="{5D4C7F3D-5B24-A5F3-CEC6-53F7E1A9B3F7}"/>
              </a:ext>
            </a:extLst>
          </p:cNvPr>
          <p:cNvPicPr>
            <a:picLocks noChangeAspect="1"/>
          </p:cNvPicPr>
          <p:nvPr/>
        </p:nvPicPr>
        <p:blipFill>
          <a:blip r:embed="rId2"/>
          <a:stretch>
            <a:fillRect/>
          </a:stretch>
        </p:blipFill>
        <p:spPr>
          <a:xfrm>
            <a:off x="2667000" y="1889096"/>
            <a:ext cx="13182600" cy="7587922"/>
          </a:xfrm>
          <a:prstGeom prst="rect">
            <a:avLst/>
          </a:prstGeom>
        </p:spPr>
      </p:pic>
    </p:spTree>
    <p:extLst>
      <p:ext uri="{BB962C8B-B14F-4D97-AF65-F5344CB8AC3E}">
        <p14:creationId xmlns:p14="http://schemas.microsoft.com/office/powerpoint/2010/main" val="6558928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440DAF31-D3EB-0A6C-77E2-D7F0F86B657A}"/>
            </a:ext>
          </a:extLst>
        </p:cNvPr>
        <p:cNvGrpSpPr/>
        <p:nvPr/>
      </p:nvGrpSpPr>
      <p:grpSpPr>
        <a:xfrm>
          <a:off x="0" y="0"/>
          <a:ext cx="0" cy="0"/>
          <a:chOff x="0" y="0"/>
          <a:chExt cx="0" cy="0"/>
        </a:xfrm>
      </p:grpSpPr>
      <p:sp>
        <p:nvSpPr>
          <p:cNvPr id="4" name="مربع نص 3">
            <a:extLst>
              <a:ext uri="{FF2B5EF4-FFF2-40B4-BE49-F238E27FC236}">
                <a16:creationId xmlns:a16="http://schemas.microsoft.com/office/drawing/2014/main" id="{A0979447-7E9A-722D-5E4B-FEC84FCEE96D}"/>
              </a:ext>
            </a:extLst>
          </p:cNvPr>
          <p:cNvSpPr txBox="1"/>
          <p:nvPr/>
        </p:nvSpPr>
        <p:spPr>
          <a:xfrm>
            <a:off x="16916400" y="9256354"/>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28</a:t>
            </a:r>
          </a:p>
        </p:txBody>
      </p:sp>
      <p:pic>
        <p:nvPicPr>
          <p:cNvPr id="3" name="صورة 2">
            <a:extLst>
              <a:ext uri="{FF2B5EF4-FFF2-40B4-BE49-F238E27FC236}">
                <a16:creationId xmlns:a16="http://schemas.microsoft.com/office/drawing/2014/main" id="{46DFB543-0D41-83C4-9B5F-237A063B5B82}"/>
              </a:ext>
            </a:extLst>
          </p:cNvPr>
          <p:cNvPicPr>
            <a:picLocks noChangeAspect="1"/>
          </p:cNvPicPr>
          <p:nvPr/>
        </p:nvPicPr>
        <p:blipFill>
          <a:blip r:embed="rId2"/>
          <a:stretch>
            <a:fillRect/>
          </a:stretch>
        </p:blipFill>
        <p:spPr>
          <a:xfrm>
            <a:off x="914400" y="572482"/>
            <a:ext cx="16002000" cy="9142035"/>
          </a:xfrm>
          <a:prstGeom prst="rect">
            <a:avLst/>
          </a:prstGeom>
        </p:spPr>
      </p:pic>
    </p:spTree>
    <p:extLst>
      <p:ext uri="{BB962C8B-B14F-4D97-AF65-F5344CB8AC3E}">
        <p14:creationId xmlns:p14="http://schemas.microsoft.com/office/powerpoint/2010/main" val="16779437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A5512CCC-175E-360E-D217-74E24C51EA53}"/>
            </a:ext>
          </a:extLst>
        </p:cNvPr>
        <p:cNvGrpSpPr/>
        <p:nvPr/>
      </p:nvGrpSpPr>
      <p:grpSpPr>
        <a:xfrm>
          <a:off x="0" y="0"/>
          <a:ext cx="0" cy="0"/>
          <a:chOff x="0" y="0"/>
          <a:chExt cx="0" cy="0"/>
        </a:xfrm>
      </p:grpSpPr>
      <p:sp>
        <p:nvSpPr>
          <p:cNvPr id="4" name="مربع نص 3">
            <a:extLst>
              <a:ext uri="{FF2B5EF4-FFF2-40B4-BE49-F238E27FC236}">
                <a16:creationId xmlns:a16="http://schemas.microsoft.com/office/drawing/2014/main" id="{44229A6D-D96C-9100-110F-B34BDB9423DB}"/>
              </a:ext>
            </a:extLst>
          </p:cNvPr>
          <p:cNvSpPr txBox="1"/>
          <p:nvPr/>
        </p:nvSpPr>
        <p:spPr>
          <a:xfrm>
            <a:off x="16916400" y="9256354"/>
            <a:ext cx="9144000" cy="1014317"/>
          </a:xfrm>
          <a:prstGeom prst="rect">
            <a:avLst/>
          </a:prstGeom>
          <a:noFill/>
        </p:spPr>
        <p:txBody>
          <a:bodyPr wrap="square">
            <a:spAutoFit/>
          </a:bodyPr>
          <a:lstStyle/>
          <a:p>
            <a:pPr marL="0" algn="r" defTabSz="914400" rtl="1" eaLnBrk="1" latinLnBrk="0" hangingPunct="1">
              <a:lnSpc>
                <a:spcPts val="7839"/>
              </a:lnSpc>
            </a:pPr>
            <a:r>
              <a:rPr lang="en-US" sz="5599" b="1" dirty="0">
                <a:solidFill>
                  <a:srgbClr val="000747"/>
                </a:solidFill>
                <a:latin typeface="Inter Heavy"/>
                <a:ea typeface="Inter Heavy"/>
                <a:cs typeface="Inter Heavy"/>
                <a:sym typeface="Inter Heavy"/>
              </a:rPr>
              <a:t>28</a:t>
            </a:r>
          </a:p>
        </p:txBody>
      </p:sp>
      <p:pic>
        <p:nvPicPr>
          <p:cNvPr id="5" name="صورة 4">
            <a:extLst>
              <a:ext uri="{FF2B5EF4-FFF2-40B4-BE49-F238E27FC236}">
                <a16:creationId xmlns:a16="http://schemas.microsoft.com/office/drawing/2014/main" id="{43B887D7-0C4D-6A04-0151-A81C40D27094}"/>
              </a:ext>
            </a:extLst>
          </p:cNvPr>
          <p:cNvPicPr>
            <a:picLocks noChangeAspect="1"/>
          </p:cNvPicPr>
          <p:nvPr/>
        </p:nvPicPr>
        <p:blipFill>
          <a:blip r:embed="rId2"/>
          <a:stretch>
            <a:fillRect/>
          </a:stretch>
        </p:blipFill>
        <p:spPr>
          <a:xfrm>
            <a:off x="588067" y="461590"/>
            <a:ext cx="16709333" cy="9482510"/>
          </a:xfrm>
          <a:prstGeom prst="rect">
            <a:avLst/>
          </a:prstGeom>
        </p:spPr>
      </p:pic>
      <p:sp>
        <p:nvSpPr>
          <p:cNvPr id="8" name="مربع نص 7">
            <a:extLst>
              <a:ext uri="{FF2B5EF4-FFF2-40B4-BE49-F238E27FC236}">
                <a16:creationId xmlns:a16="http://schemas.microsoft.com/office/drawing/2014/main" id="{0B17DFF0-4373-8495-728B-DC23B384235E}"/>
              </a:ext>
            </a:extLst>
          </p:cNvPr>
          <p:cNvSpPr txBox="1"/>
          <p:nvPr/>
        </p:nvSpPr>
        <p:spPr>
          <a:xfrm>
            <a:off x="16916400" y="9318251"/>
            <a:ext cx="1320165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29</a:t>
            </a:r>
          </a:p>
        </p:txBody>
      </p:sp>
    </p:spTree>
    <p:extLst>
      <p:ext uri="{BB962C8B-B14F-4D97-AF65-F5344CB8AC3E}">
        <p14:creationId xmlns:p14="http://schemas.microsoft.com/office/powerpoint/2010/main" val="10324466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D0042FE6-0F3D-1F9C-DBBD-745FA9CFFC33}"/>
            </a:ext>
          </a:extLst>
        </p:cNvPr>
        <p:cNvGrpSpPr/>
        <p:nvPr/>
      </p:nvGrpSpPr>
      <p:grpSpPr>
        <a:xfrm>
          <a:off x="0" y="0"/>
          <a:ext cx="0" cy="0"/>
          <a:chOff x="0" y="0"/>
          <a:chExt cx="0" cy="0"/>
        </a:xfrm>
      </p:grpSpPr>
      <p:sp>
        <p:nvSpPr>
          <p:cNvPr id="4" name="مربع نص 3">
            <a:extLst>
              <a:ext uri="{FF2B5EF4-FFF2-40B4-BE49-F238E27FC236}">
                <a16:creationId xmlns:a16="http://schemas.microsoft.com/office/drawing/2014/main" id="{5D678499-BD4D-EC93-63D9-DE02893A63AB}"/>
              </a:ext>
            </a:extLst>
          </p:cNvPr>
          <p:cNvSpPr txBox="1"/>
          <p:nvPr/>
        </p:nvSpPr>
        <p:spPr>
          <a:xfrm>
            <a:off x="16916400" y="9256354"/>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30</a:t>
            </a:r>
          </a:p>
        </p:txBody>
      </p:sp>
      <p:pic>
        <p:nvPicPr>
          <p:cNvPr id="6" name="صورة 5">
            <a:extLst>
              <a:ext uri="{FF2B5EF4-FFF2-40B4-BE49-F238E27FC236}">
                <a16:creationId xmlns:a16="http://schemas.microsoft.com/office/drawing/2014/main" id="{A0FC56AA-AA36-1DC7-6109-332C98594362}"/>
              </a:ext>
            </a:extLst>
          </p:cNvPr>
          <p:cNvPicPr>
            <a:picLocks noChangeAspect="1"/>
          </p:cNvPicPr>
          <p:nvPr/>
        </p:nvPicPr>
        <p:blipFill>
          <a:blip r:embed="rId2"/>
          <a:stretch>
            <a:fillRect/>
          </a:stretch>
        </p:blipFill>
        <p:spPr>
          <a:xfrm>
            <a:off x="457200" y="275505"/>
            <a:ext cx="16736786" cy="9520664"/>
          </a:xfrm>
          <a:prstGeom prst="rect">
            <a:avLst/>
          </a:prstGeom>
        </p:spPr>
      </p:pic>
    </p:spTree>
    <p:extLst>
      <p:ext uri="{BB962C8B-B14F-4D97-AF65-F5344CB8AC3E}">
        <p14:creationId xmlns:p14="http://schemas.microsoft.com/office/powerpoint/2010/main" val="14147730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3C794931-DF46-9F12-5D31-E3ECD444D05D}"/>
            </a:ext>
          </a:extLst>
        </p:cNvPr>
        <p:cNvGrpSpPr/>
        <p:nvPr/>
      </p:nvGrpSpPr>
      <p:grpSpPr>
        <a:xfrm>
          <a:off x="0" y="0"/>
          <a:ext cx="0" cy="0"/>
          <a:chOff x="0" y="0"/>
          <a:chExt cx="0" cy="0"/>
        </a:xfrm>
      </p:grpSpPr>
      <p:sp>
        <p:nvSpPr>
          <p:cNvPr id="4" name="مربع نص 3">
            <a:extLst>
              <a:ext uri="{FF2B5EF4-FFF2-40B4-BE49-F238E27FC236}">
                <a16:creationId xmlns:a16="http://schemas.microsoft.com/office/drawing/2014/main" id="{AE405D32-0ECE-A5F6-E976-6467F28FB83E}"/>
              </a:ext>
            </a:extLst>
          </p:cNvPr>
          <p:cNvSpPr txBox="1"/>
          <p:nvPr/>
        </p:nvSpPr>
        <p:spPr>
          <a:xfrm>
            <a:off x="16916400" y="9256354"/>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31</a:t>
            </a:r>
          </a:p>
        </p:txBody>
      </p:sp>
      <p:sp>
        <p:nvSpPr>
          <p:cNvPr id="2" name="TextBox 7">
            <a:extLst>
              <a:ext uri="{FF2B5EF4-FFF2-40B4-BE49-F238E27FC236}">
                <a16:creationId xmlns:a16="http://schemas.microsoft.com/office/drawing/2014/main" id="{10321A8D-F84F-B30C-90CF-047346D1B9C2}"/>
              </a:ext>
            </a:extLst>
          </p:cNvPr>
          <p:cNvSpPr txBox="1"/>
          <p:nvPr/>
        </p:nvSpPr>
        <p:spPr>
          <a:xfrm>
            <a:off x="6898512" y="804539"/>
            <a:ext cx="10017888" cy="733534"/>
          </a:xfrm>
          <a:prstGeom prst="rect">
            <a:avLst/>
          </a:prstGeom>
          <a:noFill/>
        </p:spPr>
        <p:txBody>
          <a:bodyPr wrap="square">
            <a:spAutoFit/>
          </a:bodyPr>
          <a:lstStyle/>
          <a:p>
            <a:pPr marL="388624" lvl="1">
              <a:lnSpc>
                <a:spcPts val="5040"/>
              </a:lnSpc>
            </a:pPr>
            <a:r>
              <a:rPr lang="en-US" sz="4400" b="1" dirty="0">
                <a:solidFill>
                  <a:srgbClr val="1B3A62"/>
                </a:solidFill>
                <a:latin typeface="Inter Bold"/>
                <a:ea typeface="Inter Bold"/>
                <a:cs typeface="Inter Bold"/>
                <a:sym typeface="Inter Bold"/>
              </a:rPr>
              <a:t>Prediction</a:t>
            </a:r>
            <a:endParaRPr lang="en-US" sz="4400" b="1" dirty="0">
              <a:solidFill>
                <a:srgbClr val="1B3A62"/>
              </a:solidFill>
              <a:highlight>
                <a:srgbClr val="C0C0C0"/>
              </a:highlight>
              <a:latin typeface="Inter Bold"/>
              <a:ea typeface="Inter Bold"/>
              <a:cs typeface="Inter Bold"/>
              <a:sym typeface="Inter Bold"/>
            </a:endParaRPr>
          </a:p>
        </p:txBody>
      </p:sp>
      <p:pic>
        <p:nvPicPr>
          <p:cNvPr id="8" name="صورة 7">
            <a:extLst>
              <a:ext uri="{FF2B5EF4-FFF2-40B4-BE49-F238E27FC236}">
                <a16:creationId xmlns:a16="http://schemas.microsoft.com/office/drawing/2014/main" id="{348AAACA-4C1A-52A4-2D5C-644FC3A57425}"/>
              </a:ext>
            </a:extLst>
          </p:cNvPr>
          <p:cNvPicPr>
            <a:picLocks noChangeAspect="1"/>
          </p:cNvPicPr>
          <p:nvPr/>
        </p:nvPicPr>
        <p:blipFill>
          <a:blip r:embed="rId2"/>
          <a:stretch>
            <a:fillRect/>
          </a:stretch>
        </p:blipFill>
        <p:spPr>
          <a:xfrm>
            <a:off x="2819400" y="1688296"/>
            <a:ext cx="12649200" cy="8107873"/>
          </a:xfrm>
          <a:prstGeom prst="rect">
            <a:avLst/>
          </a:prstGeom>
        </p:spPr>
      </p:pic>
    </p:spTree>
    <p:extLst>
      <p:ext uri="{BB962C8B-B14F-4D97-AF65-F5344CB8AC3E}">
        <p14:creationId xmlns:p14="http://schemas.microsoft.com/office/powerpoint/2010/main" val="28741573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7C87EF5B-085A-C18A-77C9-D723B8B79A4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1571045-D7E9-8720-CBF7-888EF1BB3FF3}"/>
              </a:ext>
            </a:extLst>
          </p:cNvPr>
          <p:cNvSpPr txBox="1"/>
          <p:nvPr/>
        </p:nvSpPr>
        <p:spPr>
          <a:xfrm>
            <a:off x="3429000" y="576689"/>
            <a:ext cx="11430000" cy="733534"/>
          </a:xfrm>
          <a:prstGeom prst="rect">
            <a:avLst/>
          </a:prstGeom>
          <a:noFill/>
        </p:spPr>
        <p:txBody>
          <a:bodyPr wrap="square">
            <a:spAutoFit/>
          </a:bodyPr>
          <a:lstStyle/>
          <a:p>
            <a:pPr marL="388624" lvl="1">
              <a:lnSpc>
                <a:spcPts val="5040"/>
              </a:lnSpc>
            </a:pPr>
            <a:r>
              <a:rPr lang="en-US" sz="4400" b="1" dirty="0">
                <a:solidFill>
                  <a:schemeClr val="tx2"/>
                </a:solidFill>
                <a:highlight>
                  <a:srgbClr val="C0C0C0"/>
                </a:highlight>
              </a:rPr>
              <a:t>💡 </a:t>
            </a:r>
            <a:r>
              <a:rPr lang="en-US" sz="4400" b="1" dirty="0">
                <a:solidFill>
                  <a:srgbClr val="1B3A62"/>
                </a:solidFill>
                <a:highlight>
                  <a:srgbClr val="C0C0C0"/>
                </a:highlight>
                <a:latin typeface="Inter Bold"/>
                <a:ea typeface="Inter Bold"/>
                <a:cs typeface="Inter Bold"/>
                <a:sym typeface="Inter Bold"/>
              </a:rPr>
              <a:t>Key Actionable Recommendations:</a:t>
            </a:r>
          </a:p>
        </p:txBody>
      </p:sp>
      <p:sp>
        <p:nvSpPr>
          <p:cNvPr id="3" name="TextBox 2">
            <a:extLst>
              <a:ext uri="{FF2B5EF4-FFF2-40B4-BE49-F238E27FC236}">
                <a16:creationId xmlns:a16="http://schemas.microsoft.com/office/drawing/2014/main" id="{46D7A72A-B454-277D-1EA4-5E16B5589295}"/>
              </a:ext>
            </a:extLst>
          </p:cNvPr>
          <p:cNvSpPr txBox="1"/>
          <p:nvPr/>
        </p:nvSpPr>
        <p:spPr>
          <a:xfrm>
            <a:off x="381000" y="1310223"/>
            <a:ext cx="16383000" cy="7694414"/>
          </a:xfrm>
          <a:prstGeom prst="rect">
            <a:avLst/>
          </a:prstGeom>
          <a:noFill/>
        </p:spPr>
        <p:txBody>
          <a:bodyPr wrap="square">
            <a:spAutoFit/>
          </a:bodyPr>
          <a:lstStyle/>
          <a:p>
            <a:pPr algn="just"/>
            <a:r>
              <a:rPr lang="en-US" b="1" dirty="0">
                <a:solidFill>
                  <a:schemeClr val="tx2"/>
                </a:solidFill>
              </a:rPr>
              <a:t>​</a:t>
            </a:r>
            <a:endParaRPr lang="en-US" sz="2800" b="1" dirty="0">
              <a:solidFill>
                <a:schemeClr val="tx2"/>
              </a:solidFill>
            </a:endParaRPr>
          </a:p>
          <a:p>
            <a:pPr marL="285750" indent="-285750" algn="just">
              <a:buFont typeface="Arial" panose="020B0604020202020204" pitchFamily="34" charset="0"/>
              <a:buChar char="•"/>
            </a:pPr>
            <a:r>
              <a:rPr lang="en-US" sz="2800" b="1" dirty="0">
                <a:solidFill>
                  <a:schemeClr val="tx2"/>
                </a:solidFill>
              </a:rPr>
              <a:t>​​Optimize Total Costs: Conduct an urgent review of supplier agreements and production costs to reduce the $2.01M expenditure and push the profit margin toward a healthier 15% – 18% target.</a:t>
            </a:r>
          </a:p>
          <a:p>
            <a:pPr marL="285750" indent="-285750" algn="just">
              <a:buFont typeface="Arial" panose="020B0604020202020204" pitchFamily="34" charset="0"/>
              <a:buChar char="•"/>
            </a:pPr>
            <a:endParaRPr lang="en-US" sz="2800" b="1" dirty="0">
              <a:solidFill>
                <a:schemeClr val="tx2"/>
              </a:solidFill>
            </a:endParaRPr>
          </a:p>
          <a:p>
            <a:pPr marL="285750" indent="-285750" algn="just">
              <a:buFont typeface="Arial" panose="020B0604020202020204" pitchFamily="34" charset="0"/>
              <a:buChar char="•"/>
            </a:pPr>
            <a:r>
              <a:rPr lang="en-US" sz="2800" b="1" dirty="0">
                <a:solidFill>
                  <a:schemeClr val="tx2"/>
                </a:solidFill>
              </a:rPr>
              <a:t>​Launch Acquisition Campaigns: Allocate a specific marketing budget focused entirely on acquiring new customers to boost the current 1.51% rate and expand market share.</a:t>
            </a:r>
          </a:p>
          <a:p>
            <a:pPr marL="285750" indent="-285750" algn="just">
              <a:buFont typeface="Arial" panose="020B0604020202020204" pitchFamily="34" charset="0"/>
              <a:buChar char="•"/>
            </a:pPr>
            <a:endParaRPr lang="en-US" sz="2800" b="1" dirty="0">
              <a:solidFill>
                <a:schemeClr val="tx2"/>
              </a:solidFill>
            </a:endParaRPr>
          </a:p>
          <a:p>
            <a:pPr marL="285750" indent="-285750" algn="just">
              <a:buFont typeface="Arial" panose="020B0604020202020204" pitchFamily="34" charset="0"/>
              <a:buChar char="•"/>
            </a:pPr>
            <a:r>
              <a:rPr lang="en-US" sz="2800" b="1" dirty="0">
                <a:solidFill>
                  <a:schemeClr val="tx2"/>
                </a:solidFill>
              </a:rPr>
              <a:t>​Fix Shipping Bottlenecks: Establish stricter agreements with shipping partners to lower the 30.76% delay rate, focusing heavily on the Central Region as it has the slowest delivery time (4 days).</a:t>
            </a:r>
          </a:p>
          <a:p>
            <a:pPr marL="285750" indent="-285750" algn="just">
              <a:buFont typeface="Arial" panose="020B0604020202020204" pitchFamily="34" charset="0"/>
              <a:buChar char="•"/>
            </a:pPr>
            <a:endParaRPr lang="en-US" sz="2800" b="1" dirty="0">
              <a:solidFill>
                <a:schemeClr val="tx2"/>
              </a:solidFill>
            </a:endParaRPr>
          </a:p>
          <a:p>
            <a:pPr marL="285750" indent="-285750" algn="just">
              <a:buFont typeface="Arial" panose="020B0604020202020204" pitchFamily="34" charset="0"/>
              <a:buChar char="•"/>
            </a:pPr>
            <a:r>
              <a:rPr lang="en-US" sz="2800" b="1" dirty="0">
                <a:solidFill>
                  <a:schemeClr val="tx2"/>
                </a:solidFill>
              </a:rPr>
              <a:t>​Rethink Same-Day Pricing: Increase the price of the Same-Day shipping service or optimize its logistics so that fast shipping yields a higher profit margin than standard options.</a:t>
            </a:r>
          </a:p>
          <a:p>
            <a:pPr marL="285750" indent="-285750" algn="just">
              <a:buFont typeface="Arial" panose="020B0604020202020204" pitchFamily="34" charset="0"/>
              <a:buChar char="•"/>
            </a:pPr>
            <a:endParaRPr lang="en-US" sz="2800" b="1" dirty="0">
              <a:solidFill>
                <a:schemeClr val="tx2"/>
              </a:solidFill>
            </a:endParaRPr>
          </a:p>
          <a:p>
            <a:pPr marL="285750" indent="-285750" algn="just">
              <a:buFont typeface="Arial" panose="020B0604020202020204" pitchFamily="34" charset="0"/>
              <a:buChar char="•"/>
            </a:pPr>
            <a:r>
              <a:rPr lang="en-US" sz="2800" b="1" dirty="0">
                <a:solidFill>
                  <a:schemeClr val="tx2"/>
                </a:solidFill>
              </a:rPr>
              <a:t>​Counter the Q1 Slump: Introduce aggressive promotional campaigns, bundles, or inventory clearance sales during the first quarter of the year to activate cash flow and avoid the seasonal drop.</a:t>
            </a:r>
          </a:p>
          <a:p>
            <a:pPr marL="285750" indent="-285750" algn="just">
              <a:buFont typeface="Arial" panose="020B0604020202020204" pitchFamily="34" charset="0"/>
              <a:buChar char="•"/>
            </a:pPr>
            <a:endParaRPr lang="en-US" sz="2800" b="1" dirty="0">
              <a:solidFill>
                <a:schemeClr val="tx2"/>
              </a:solidFill>
            </a:endParaRPr>
          </a:p>
          <a:p>
            <a:pPr marL="285750" indent="-285750" algn="just">
              <a:buFont typeface="Arial" panose="020B0604020202020204" pitchFamily="34" charset="0"/>
              <a:buChar char="•"/>
            </a:pPr>
            <a:r>
              <a:rPr lang="en-US" sz="2800" b="1" dirty="0">
                <a:solidFill>
                  <a:schemeClr val="tx2"/>
                </a:solidFill>
              </a:rPr>
              <a:t>​Double Down on High-Value Items: Increase inventory depth and product variety for Chairs and Phones to fully capitalize on the high market demand for these specific segments.</a:t>
            </a:r>
          </a:p>
        </p:txBody>
      </p:sp>
      <p:sp>
        <p:nvSpPr>
          <p:cNvPr id="4" name="مربع نص 3">
            <a:extLst>
              <a:ext uri="{FF2B5EF4-FFF2-40B4-BE49-F238E27FC236}">
                <a16:creationId xmlns:a16="http://schemas.microsoft.com/office/drawing/2014/main" id="{04FBFE71-F8FC-4356-35E1-C56BB98A85B4}"/>
              </a:ext>
            </a:extLst>
          </p:cNvPr>
          <p:cNvSpPr txBox="1"/>
          <p:nvPr/>
        </p:nvSpPr>
        <p:spPr>
          <a:xfrm>
            <a:off x="16769443" y="9031851"/>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32</a:t>
            </a:r>
          </a:p>
        </p:txBody>
      </p:sp>
    </p:spTree>
    <p:extLst>
      <p:ext uri="{BB962C8B-B14F-4D97-AF65-F5344CB8AC3E}">
        <p14:creationId xmlns:p14="http://schemas.microsoft.com/office/powerpoint/2010/main" val="3645995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D7D6D2"/>
        </a:solidFill>
        <a:effectLst/>
      </p:bgPr>
    </p:bg>
    <p:spTree>
      <p:nvGrpSpPr>
        <p:cNvPr id="1" name="">
          <a:extLst>
            <a:ext uri="{FF2B5EF4-FFF2-40B4-BE49-F238E27FC236}">
              <a16:creationId xmlns:a16="http://schemas.microsoft.com/office/drawing/2014/main" id="{608CD6F5-80D7-A78D-7CA5-6FFCE3E535B0}"/>
            </a:ext>
          </a:extLst>
        </p:cNvPr>
        <p:cNvGrpSpPr/>
        <p:nvPr/>
      </p:nvGrpSpPr>
      <p:grpSpPr>
        <a:xfrm>
          <a:off x="0" y="0"/>
          <a:ext cx="0" cy="0"/>
          <a:chOff x="0" y="0"/>
          <a:chExt cx="0" cy="0"/>
        </a:xfrm>
      </p:grpSpPr>
      <p:sp>
        <p:nvSpPr>
          <p:cNvPr id="2" name="TextBox 7">
            <a:extLst>
              <a:ext uri="{FF2B5EF4-FFF2-40B4-BE49-F238E27FC236}">
                <a16:creationId xmlns:a16="http://schemas.microsoft.com/office/drawing/2014/main" id="{1DB0A918-539D-F52E-B3F2-973C05E247D2}"/>
              </a:ext>
            </a:extLst>
          </p:cNvPr>
          <p:cNvSpPr txBox="1"/>
          <p:nvPr/>
        </p:nvSpPr>
        <p:spPr>
          <a:xfrm>
            <a:off x="6248400" y="723900"/>
            <a:ext cx="11430000" cy="733534"/>
          </a:xfrm>
          <a:prstGeom prst="rect">
            <a:avLst/>
          </a:prstGeom>
          <a:noFill/>
        </p:spPr>
        <p:txBody>
          <a:bodyPr wrap="square">
            <a:spAutoFit/>
          </a:bodyPr>
          <a:lstStyle>
            <a:defPPr>
              <a:defRPr lang="en-US"/>
            </a:defPPr>
            <a:lvl2pPr marL="388624" lvl="1">
              <a:lnSpc>
                <a:spcPts val="5040"/>
              </a:lnSpc>
              <a:defRPr sz="4400" b="1">
                <a:solidFill>
                  <a:schemeClr val="tx2"/>
                </a:solidFill>
                <a:highlight>
                  <a:srgbClr val="C0C0C0"/>
                </a:highlight>
              </a:defRPr>
            </a:lvl2pPr>
          </a:lstStyle>
          <a:p>
            <a:pPr lvl="1"/>
            <a:r>
              <a:rPr lang="ar-EG" dirty="0"/>
              <a:t>Project Repository:</a:t>
            </a:r>
            <a:endParaRPr lang="en-US" dirty="0">
              <a:sym typeface="Inter Bold"/>
            </a:endParaRPr>
          </a:p>
        </p:txBody>
      </p:sp>
      <p:sp>
        <p:nvSpPr>
          <p:cNvPr id="4" name="TextBox 7">
            <a:extLst>
              <a:ext uri="{FF2B5EF4-FFF2-40B4-BE49-F238E27FC236}">
                <a16:creationId xmlns:a16="http://schemas.microsoft.com/office/drawing/2014/main" id="{FE6B62D2-138D-3000-5BC5-7B9CD9BF72D3}"/>
              </a:ext>
            </a:extLst>
          </p:cNvPr>
          <p:cNvSpPr txBox="1"/>
          <p:nvPr/>
        </p:nvSpPr>
        <p:spPr>
          <a:xfrm>
            <a:off x="2030185" y="2933700"/>
            <a:ext cx="14227629" cy="665247"/>
          </a:xfrm>
          <a:prstGeom prst="rect">
            <a:avLst/>
          </a:prstGeom>
          <a:noFill/>
        </p:spPr>
        <p:txBody>
          <a:bodyPr wrap="square">
            <a:spAutoFit/>
          </a:bodyPr>
          <a:lstStyle>
            <a:defPPr>
              <a:defRPr lang="en-US"/>
            </a:defPPr>
            <a:lvl2pPr marL="388624" lvl="1">
              <a:lnSpc>
                <a:spcPts val="5040"/>
              </a:lnSpc>
              <a:defRPr sz="4400" b="1">
                <a:solidFill>
                  <a:schemeClr val="tx2"/>
                </a:solidFill>
                <a:highlight>
                  <a:srgbClr val="C0C0C0"/>
                </a:highlight>
              </a:defRPr>
            </a:lvl2pPr>
          </a:lstStyle>
          <a:p>
            <a:pPr lvl="1"/>
            <a:r>
              <a:rPr lang="ar-EG" sz="2800" dirty="0"/>
              <a:t>All project files, source code, dashboards, and documentation are available on GitHub.</a:t>
            </a:r>
            <a:endParaRPr lang="en-US" sz="2800" dirty="0">
              <a:sym typeface="Inter Bold"/>
            </a:endParaRPr>
          </a:p>
        </p:txBody>
      </p:sp>
      <p:sp>
        <p:nvSpPr>
          <p:cNvPr id="5" name="TextBox 7">
            <a:extLst>
              <a:ext uri="{FF2B5EF4-FFF2-40B4-BE49-F238E27FC236}">
                <a16:creationId xmlns:a16="http://schemas.microsoft.com/office/drawing/2014/main" id="{CFB293FB-D47C-C135-CBBE-F4B951844E90}"/>
              </a:ext>
            </a:extLst>
          </p:cNvPr>
          <p:cNvSpPr txBox="1"/>
          <p:nvPr/>
        </p:nvSpPr>
        <p:spPr>
          <a:xfrm>
            <a:off x="2030184" y="5378849"/>
            <a:ext cx="14227629" cy="1309205"/>
          </a:xfrm>
          <a:prstGeom prst="rect">
            <a:avLst/>
          </a:prstGeom>
          <a:noFill/>
        </p:spPr>
        <p:txBody>
          <a:bodyPr wrap="square">
            <a:spAutoFit/>
          </a:bodyPr>
          <a:lstStyle>
            <a:defPPr>
              <a:defRPr lang="en-US"/>
            </a:defPPr>
            <a:lvl2pPr marL="388624" lvl="1">
              <a:lnSpc>
                <a:spcPts val="5040"/>
              </a:lnSpc>
              <a:defRPr sz="4400" b="1">
                <a:solidFill>
                  <a:schemeClr val="tx2"/>
                </a:solidFill>
                <a:highlight>
                  <a:srgbClr val="C0C0C0"/>
                </a:highlight>
              </a:defRPr>
            </a:lvl2pPr>
          </a:lstStyle>
          <a:p>
            <a:pPr lvl="1"/>
            <a:r>
              <a:rPr lang="ar-EG" sz="2800" dirty="0"/>
              <a:t>🔗 GitHub Repository:</a:t>
            </a:r>
            <a:endParaRPr lang="en-US" sz="2800" dirty="0"/>
          </a:p>
          <a:p>
            <a:pPr lvl="1"/>
            <a:r>
              <a:rPr lang="en-US" sz="2800" dirty="0">
                <a:sym typeface="Inter Bold"/>
              </a:rPr>
              <a:t>https://</a:t>
            </a:r>
            <a:r>
              <a:rPr lang="en-US" sz="2800" dirty="0" err="1">
                <a:sym typeface="Inter Bold"/>
              </a:rPr>
              <a:t>github.com</a:t>
            </a:r>
            <a:r>
              <a:rPr lang="en-US" sz="2800" dirty="0">
                <a:sym typeface="Inter Bold"/>
              </a:rPr>
              <a:t>/</a:t>
            </a:r>
            <a:r>
              <a:rPr lang="en-US" sz="2800" dirty="0" err="1">
                <a:sym typeface="Inter Bold"/>
              </a:rPr>
              <a:t>Ahmedelabi</a:t>
            </a:r>
            <a:r>
              <a:rPr lang="en-US" sz="2800" dirty="0">
                <a:sym typeface="Inter Bold"/>
              </a:rPr>
              <a:t>/Insight-Pioneers</a:t>
            </a:r>
          </a:p>
        </p:txBody>
      </p:sp>
      <p:sp>
        <p:nvSpPr>
          <p:cNvPr id="7" name="مربع نص 6">
            <a:extLst>
              <a:ext uri="{FF2B5EF4-FFF2-40B4-BE49-F238E27FC236}">
                <a16:creationId xmlns:a16="http://schemas.microsoft.com/office/drawing/2014/main" id="{58358908-12E7-7B7E-FDAA-3897BC35F3C8}"/>
              </a:ext>
            </a:extLst>
          </p:cNvPr>
          <p:cNvSpPr txBox="1"/>
          <p:nvPr/>
        </p:nvSpPr>
        <p:spPr>
          <a:xfrm>
            <a:off x="16764000" y="9055941"/>
            <a:ext cx="9144000"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33</a:t>
            </a:r>
          </a:p>
        </p:txBody>
      </p:sp>
    </p:spTree>
    <p:extLst>
      <p:ext uri="{BB962C8B-B14F-4D97-AF65-F5344CB8AC3E}">
        <p14:creationId xmlns:p14="http://schemas.microsoft.com/office/powerpoint/2010/main" val="1826498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9C3E04-1CAB-C96B-DDB6-0FD798B9FBBD}"/>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8287542" cy="102780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 y="0"/>
            <a:ext cx="18287543"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A47D18D-895E-0A50-B552-B2D58C6F97F7}"/>
              </a:ext>
            </a:extLst>
          </p:cNvPr>
          <p:cNvSpPr txBox="1"/>
          <p:nvPr/>
        </p:nvSpPr>
        <p:spPr>
          <a:xfrm>
            <a:off x="10744200" y="4533900"/>
            <a:ext cx="7208994" cy="1945672"/>
          </a:xfrm>
          <a:prstGeom prst="rect">
            <a:avLst/>
          </a:prstGeom>
        </p:spPr>
        <p:txBody>
          <a:bodyPr vert="horz" lIns="91440" tIns="45720" rIns="91440" bIns="45720" rtlCol="0" anchor="t">
            <a:normAutofit/>
          </a:bodyPr>
          <a:lstStyle/>
          <a:p>
            <a:pPr marL="0" algn="r" defTabSz="914400" rtl="1" eaLnBrk="1" latinLnBrk="0" hangingPunct="1">
              <a:lnSpc>
                <a:spcPct val="90000"/>
              </a:lnSpc>
              <a:spcBef>
                <a:spcPct val="0"/>
              </a:spcBef>
              <a:spcAft>
                <a:spcPts val="600"/>
              </a:spcAft>
            </a:pPr>
            <a:endParaRPr lang="en-US" sz="6000" b="1" kern="1200" dirty="0">
              <a:solidFill>
                <a:schemeClr val="tx2"/>
              </a:solidFill>
              <a:latin typeface="+mj-lt"/>
              <a:ea typeface="+mj-ea"/>
              <a:cs typeface="+mj-cs"/>
            </a:endParaRPr>
          </a:p>
        </p:txBody>
      </p:sp>
      <p:grpSp>
        <p:nvGrpSpPr>
          <p:cNvPr id="43" name="Group 4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79" y="-8965"/>
            <a:ext cx="9358011" cy="10295969"/>
            <a:chOff x="305" y="-5977"/>
            <a:chExt cx="6238675" cy="6863979"/>
          </a:xfrm>
        </p:grpSpPr>
        <p:sp>
          <p:nvSpPr>
            <p:cNvPr id="44" name="Freeform: Shape 4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صورة 4">
            <a:extLst>
              <a:ext uri="{FF2B5EF4-FFF2-40B4-BE49-F238E27FC236}">
                <a16:creationId xmlns:a16="http://schemas.microsoft.com/office/drawing/2014/main" id="{E74136CB-BF63-F65B-53A8-5F569ED8E5F4}"/>
              </a:ext>
            </a:extLst>
          </p:cNvPr>
          <p:cNvPicPr>
            <a:picLocks noChangeAspect="1"/>
          </p:cNvPicPr>
          <p:nvPr/>
        </p:nvPicPr>
        <p:blipFill>
          <a:blip r:embed="rId2">
            <a:alphaModFix amt="50000"/>
          </a:blip>
          <a:stretch>
            <a:fillRect/>
          </a:stretch>
        </p:blipFill>
        <p:spPr>
          <a:xfrm>
            <a:off x="457" y="24954"/>
            <a:ext cx="18287543" cy="10313904"/>
          </a:xfrm>
          <a:prstGeom prst="rect">
            <a:avLst/>
          </a:prstGeom>
        </p:spPr>
      </p:pic>
      <p:pic>
        <p:nvPicPr>
          <p:cNvPr id="36" name="Graphic 35" descr="Handshake">
            <a:extLst>
              <a:ext uri="{FF2B5EF4-FFF2-40B4-BE49-F238E27FC236}">
                <a16:creationId xmlns:a16="http://schemas.microsoft.com/office/drawing/2014/main" id="{8A8E06C6-5FD7-170B-4117-41D76A3033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3989" y="3695700"/>
            <a:ext cx="6212640" cy="6212640"/>
          </a:xfrm>
          <a:custGeom>
            <a:avLst/>
            <a:gdLst/>
            <a:ahLst/>
            <a:cxnLst/>
            <a:rect l="l" t="t" r="r" b="b"/>
            <a:pathLst>
              <a:path w="4141760" h="4377846">
                <a:moveTo>
                  <a:pt x="0" y="0"/>
                </a:moveTo>
                <a:lnTo>
                  <a:pt x="4141760" y="0"/>
                </a:lnTo>
                <a:lnTo>
                  <a:pt x="4141760" y="4377846"/>
                </a:lnTo>
                <a:lnTo>
                  <a:pt x="0" y="4377846"/>
                </a:lnTo>
                <a:close/>
              </a:path>
            </a:pathLst>
          </a:custGeom>
        </p:spPr>
      </p:pic>
      <p:sp>
        <p:nvSpPr>
          <p:cNvPr id="4" name="مربع نص 3">
            <a:extLst>
              <a:ext uri="{FF2B5EF4-FFF2-40B4-BE49-F238E27FC236}">
                <a16:creationId xmlns:a16="http://schemas.microsoft.com/office/drawing/2014/main" id="{1F53D40A-88AB-4C23-025D-7A917C549EDB}"/>
              </a:ext>
            </a:extLst>
          </p:cNvPr>
          <p:cNvSpPr txBox="1"/>
          <p:nvPr/>
        </p:nvSpPr>
        <p:spPr>
          <a:xfrm>
            <a:off x="16764000" y="9247729"/>
            <a:ext cx="9152164" cy="1014317"/>
          </a:xfrm>
          <a:prstGeom prst="rect">
            <a:avLst/>
          </a:prstGeom>
          <a:noFill/>
        </p:spPr>
        <p:txBody>
          <a:bodyPr wrap="square">
            <a:spAutoFit/>
          </a:bodyPr>
          <a:lstStyle/>
          <a:p>
            <a:pPr marL="0" algn="l" defTabSz="914400" rtl="0" eaLnBrk="1" latinLnBrk="0" hangingPunct="1">
              <a:lnSpc>
                <a:spcPts val="7839"/>
              </a:lnSpc>
            </a:pPr>
            <a:r>
              <a:rPr lang="en-US" sz="5599" b="1" dirty="0">
                <a:solidFill>
                  <a:srgbClr val="000747"/>
                </a:solidFill>
                <a:latin typeface="Inter Heavy"/>
                <a:ea typeface="Inter Heavy"/>
                <a:cs typeface="Inter Heavy"/>
                <a:sym typeface="Inter Heavy"/>
              </a:rPr>
              <a:t>34</a:t>
            </a:r>
          </a:p>
        </p:txBody>
      </p:sp>
    </p:spTree>
    <p:extLst>
      <p:ext uri="{BB962C8B-B14F-4D97-AF65-F5344CB8AC3E}">
        <p14:creationId xmlns:p14="http://schemas.microsoft.com/office/powerpoint/2010/main" val="14893920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par>
                                <p:cTn id="17" presetID="10"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3330</TotalTime>
  <Words>1216</Words>
  <Application>Microsoft Macintosh PowerPoint</Application>
  <PresentationFormat>مخصص</PresentationFormat>
  <Paragraphs>248</Paragraphs>
  <Slides>35</Slides>
  <Notes>1</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35</vt:i4>
      </vt:variant>
    </vt:vector>
  </HeadingPairs>
  <TitlesOfParts>
    <vt:vector size="44" baseType="lpstr">
      <vt:lpstr>Arial Rounded MT Bold</vt:lpstr>
      <vt:lpstr>Inter Bold</vt:lpstr>
      <vt:lpstr>Calibri</vt:lpstr>
      <vt:lpstr>Arial</vt:lpstr>
      <vt:lpstr>Aptos</vt:lpstr>
      <vt:lpstr>Inter Heavy</vt:lpstr>
      <vt:lpstr>League Spartan</vt:lpstr>
      <vt:lpstr>Poppins Semi-Bold</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Analysis</dc:title>
  <cp:lastModifiedBy>Nn 582</cp:lastModifiedBy>
  <cp:revision>36</cp:revision>
  <dcterms:created xsi:type="dcterms:W3CDTF">2006-08-16T00:00:00Z</dcterms:created>
  <dcterms:modified xsi:type="dcterms:W3CDTF">2026-07-14T19:01:21Z</dcterms:modified>
  <dc:identifier>DAHOa7FgOcU</dc:identifier>
</cp:coreProperties>
</file>